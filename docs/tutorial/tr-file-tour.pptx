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c3e7154-553c-b863-c387-95ec32a8873a}">
          <p14:sldIdLst>
            <p14:sldId id="256"/>
            <p14:sldId id="257"/>
          </p14:sldIdLst>
        </p14:section>
        <p14:section name="File manager" id="{ab6aa9b5-91b5-2279-a91e-cfb9ff81be88}">
          <p14:sldIdLst>
            <p14:sldId id="258"/>
            <p14:sldId id="259"/>
            <p14:sldId id="260"/>
            <p14:sldId id="261"/>
            <p14:sldId id="262"/>
            <p14:sldId id="263"/>
          </p14:sldIdLst>
        </p14:section>
        <p14:section name="Files" id="{155e3573-7b06-958b-3308-bee176e40bdb}">
          <p14:sldIdLst>
            <p14:sldId id="264"/>
            <p14:sldId id="265"/>
            <p14:sldId id="266"/>
          </p14:sldIdLst>
        </p14:section>
        <p14:section name="Tools" id="{5a49cd55-2c62-c579-c759-f02ef9565bd4}">
          <p14:sldIdLst>
            <p14:sldId id="267"/>
            <p14:sldId id="268"/>
            <p14:sldId id="269"/>
          </p14:sldIdLst>
        </p14:section>
        <p14:section name="Make it yours" id="{6e0123c1-17a5-1aef-0569-7a5ddca3e9ae}">
          <p14:sldIdLst>
            <p14:sldId id="270"/>
            <p14:sldId id="271"/>
          </p14:sldIdLst>
        </p14:section>
        <p14:section name="Wrap-up" id="{2ab1d19b-c09a-427d-3acd-4c18fb7899b1}">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tr-file is a two-panel file manager that runs in the browser or as a desktop app. It looks like VS Code and uses the keys of Midnight Commander. This tour takes about ten minutes. Every key named here can be changed in Settings, and F1 lists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bar on the left switches between four sub-applications that share one title bar, status bar and command palette. The file manager comes back exactly as you left it when you switch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round the window. The active panel is where actions go; the other panel is where copies and moves go. Ctrl+Tab moves the keyboard round the parts. Ctrl+E, Ctrl+D and Ctrl+/ hide the sidebars when you need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has tabs, its own history and its own toolbar. The view and sort order belong to the folder, so a folder looks the same every time you come back. Arrows, Home/End, page keys and typing letters move the cursor; Enter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Ctrl+click and Shift+click select several entries, or use Insert, star and plus. F5 asks where to copy and offers the other panel’s folder. Jobs run in the background with a progress window; an entry that fails asks Skip, Skip All, Retry or Abort. Ctrl+C/X/V and drag and drop do the same. Delete moves to the trash, and Ctrl+Z undoes the last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or Shift+F10, shows every action for what you clicked: an entry, several, blank space, a tab or a tree folder. The same commands are in the main menu and the palette.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split right or down as far as you like, each with its own tabs. Tab moves between panels as in Midnight Commander. The whole layout is restored next time; the gear menu has Reset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Double-click a picture to open it read-only in a tab. PgUp and PgDn step through the folder’s pictures and the listing follows. The grid view draws thumbnails; the details card shows the selected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files open in a viewer; markdown is rendered. F4 or the pencil edits in place: markdown, shell and JSON are highlighted, Ctrl+F finds, Tab indents. A dot on the tab means unsaved changes; closing asks first. If the file changed on disk meanwhile, saving asks whether to overwrite.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opens as a tree: Ctrl+F searches keys and values and opens what each match is in; double-click or F2 changes a value in place and the file keeps its layout. CSV and TSV open as a spreadsheet with Excel’s selection and keys; Ctrl+C copies tab-separated text. F4 makes it editable. A zip opens like a read-only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lists every command and filters as you type; some commands ask for a value in the same box, like Go: Jump to Folder. Search finds files by name. Bookmarks live in the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folder shown is in a Git repository, the Git pane appears at the top of Details. Its … menu has pull, push, sync, fetch, stash and pop. A commit made in a terminal shows up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 Usage shows where the space went, as a sunburst pie, a table with share bars or a treemap. Click a slice to go into it; the path bar brings you back. Export as CSV saves what is shown, ready for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Windows’ own Task Manager, for the machine tr-file runs on — Ctrl+Shift+T on the desktop. Filter with Ctrl+F, sort by clicking a column, right-click the header to choose columns. The status bar shows the load while it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has General, Appearance and Keyboard Shortcuts pages and a search box. Color theme can be dark, light or follow the system; Explorer and Details can sit on either side. F1 opens the cheatsheet with your own key changes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desktop app runs the whole stack in one window, on Windows, Linux and macOS. Every browser-reserved chord such as Ctrl+T, Ctrl+W and Ctrl+Tab reaches the app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six keys: F1 for help, Ctrl+Shift+P for any command, Tab to the other panel, F5 and F6 to copy or move there, F4 to edit, Ctrl+L to type a path. The full tutorial with annotated screenshots is docs/tutorial/README.md.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0"/>
            <a:ext cx="530352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457200" y="3611880"/>
            <a:ext cx="5120640" cy="12801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717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457200" y="6473952"/>
            <a:ext cx="3657600" cy="274320"/>
          </a:xfrm>
          <a:prstGeom prst="rect">
            <a:avLst/>
          </a:prstGeom>
          <a:noFill/>
          <a:ln/>
        </p:spPr>
        <p:txBody>
          <a:bodyPr wrap="square" lIns="0" tIns="0" rIns="0" bIns="0" rtlCol="0" anchor="ctr"/>
          <a:lstStyle/>
          <a:p>
            <a:pPr indent="0" marL="0">
              <a:buNone/>
            </a:pPr>
            <a:r>
              <a:rPr lang="en-US" sz="1000" dirty="0">
                <a:solidFill>
                  <a:schemeClr val="bg2"/>
                </a:solidFill>
              </a:rPr>
              <a:t>tr-file · a quick tour</a:t>
            </a:r>
            <a:endParaRPr lang="en-US" sz="10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0"/>
            <a:ext cx="5303520" cy="1463040"/>
          </a:xfrm>
          <a:prstGeom prst="rect">
            <a:avLst/>
          </a:prstGeom>
          <a:noFill/>
          <a:ln/>
        </p:spPr>
        <p:txBody>
          <a:bodyPr wrap="square" lIns="0" tIns="0" rIns="0" bIns="0" rtlCol="0" anchor="b"/>
          <a:lstStyle/>
          <a:p>
            <a:pPr algn="l" indent="0" marL="0">
              <a:buNone/>
            </a:pPr>
            <a:r>
              <a:rPr lang="en-US" sz="4400" b="1" dirty="0">
                <a:solidFill>
                  <a:schemeClr val="bg1"/>
                </a:solidFill>
              </a:rPr>
              <a:t>tr-file</a:t>
            </a:r>
            <a:endParaRPr lang="en-US" sz="4400" dirty="0"/>
          </a:p>
        </p:txBody>
      </p:sp>
      <p:sp>
        <p:nvSpPr>
          <p:cNvPr id="3" name="Text 0"/>
          <p:cNvSpPr/>
          <p:nvPr>
            <p:ph idx="101" type="body" hasCustomPrompt="1"/>
          </p:nvPr>
        </p:nvSpPr>
        <p:spPr>
          <a:xfrm>
            <a:off x="457200" y="3611880"/>
            <a:ext cx="5120640" cy="1280160"/>
          </a:xfrm>
          <a:prstGeom prst="rect">
            <a:avLst/>
          </a:prstGeom>
          <a:noFill/>
          <a:ln/>
        </p:spPr>
        <p:txBody>
          <a:bodyPr wrap="square" lIns="0" tIns="0" rIns="0" bIns="0" rtlCol="0" anchor="t"/>
          <a:lstStyle/>
          <a:p>
            <a:pPr algn="l" indent="0" marL="0">
              <a:buNone/>
            </a:pPr>
            <a:r>
              <a:rPr lang="en-US" sz="1800" dirty="0">
                <a:solidFill>
                  <a:schemeClr val="bg2"/>
                </a:solidFill>
              </a:rPr>
              <a:t>A quick tour of the two-panel file manager</a:t>
            </a:r>
            <a:endParaRPr lang="en-US" sz="1800" dirty="0"/>
          </a:p>
          <a:p>
            <a:pPr algn="l" indent="0" marL="0">
              <a:buNone/>
            </a:pPr>
            <a:r>
              <a:rPr lang="en-US" sz="1800" dirty="0">
                <a:solidFill>
                  <a:schemeClr val="accent1"/>
                </a:solidFill>
              </a:rPr>
              <a:t>VS Code’s look · Midnight Commander’s keys</a:t>
            </a:r>
            <a:endParaRPr lang="en-US" sz="1800" dirty="0"/>
          </a:p>
        </p:txBody>
      </p:sp>
      <p:sp>
        <p:nvSpPr>
          <p:cNvPr id="4" name="frame 01-overview"/>
          <p:cNvSpPr/>
          <p:nvPr/>
        </p:nvSpPr>
        <p:spPr>
          <a:xfrm>
            <a:off x="5952744" y="1676851"/>
            <a:ext cx="5818327" cy="3504298"/>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5" name="shot 01-overview" descr="overview">    </p:cNvPr>
          <p:cNvPicPr>
            <a:picLocks noChangeAspect="1"/>
          </p:cNvPicPr>
          <p:nvPr/>
        </p:nvPicPr>
        <p:blipFill>
          <a:blip r:embed="rId1"/>
          <a:stretch>
            <a:fillRect/>
          </a:stretch>
        </p:blipFill>
        <p:spPr>
          <a:xfrm>
            <a:off x="5989320" y="1713427"/>
            <a:ext cx="5745175" cy="34311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One window, four apps</a:t>
            </a:r>
            <a:endParaRPr lang="en-US" sz="3600" dirty="0"/>
          </a:p>
        </p:txBody>
      </p:sp>
      <p:sp>
        <p:nvSpPr>
          <p:cNvPr id="3" name="card File Manager"/>
          <p:cNvSpPr/>
          <p:nvPr/>
        </p:nvSpPr>
        <p:spPr>
          <a:xfrm>
            <a:off x="457200" y="1463040"/>
            <a:ext cx="2613584" cy="2697480"/>
          </a:xfrm>
          <a:prstGeom prst="roundRect">
            <a:avLst>
              <a:gd name="adj" fmla="val 4198"/>
            </a:avLst>
          </a:prstGeom>
          <a:solidFill>
            <a:schemeClr val="accent3"/>
          </a:solidFill>
          <a:ln/>
        </p:spPr>
      </p:sp>
      <p:sp>
        <p:nvSpPr>
          <p:cNvPr id="4" name="card File Manager circle"/>
          <p:cNvSpPr/>
          <p:nvPr/>
        </p:nvSpPr>
        <p:spPr>
          <a:xfrm>
            <a:off x="777240" y="1783080"/>
            <a:ext cx="731520" cy="731520"/>
          </a:xfrm>
          <a:prstGeom prst="ellipse">
            <a:avLst/>
          </a:prstGeom>
          <a:solidFill>
            <a:schemeClr val="accent1"/>
          </a:solidFill>
          <a:ln/>
        </p:spPr>
      </p:sp>
      <p:pic>
        <p:nvPicPr>
          <p:cNvPr id="5" name="card File Manager icon" descr="File Manager">    </p:cNvPr>
          <p:cNvPicPr>
            <a:picLocks noChangeAspect="1"/>
          </p:cNvPicPr>
          <p:nvPr/>
        </p:nvPicPr>
        <p:blipFill>
          <a:blip r:embed="rId1"/>
          <a:stretch>
            <a:fillRect/>
          </a:stretch>
        </p:blipFill>
        <p:spPr>
          <a:xfrm>
            <a:off x="941832" y="1947672"/>
            <a:ext cx="402336" cy="402336"/>
          </a:xfrm>
          <a:prstGeom prst="rect">
            <a:avLst/>
          </a:prstGeom>
        </p:spPr>
      </p:pic>
      <p:sp>
        <p:nvSpPr>
          <p:cNvPr id="6" name="Text 3"/>
          <p:cNvSpPr txBox="1"/>
          <p:nvPr/>
        </p:nvSpPr>
        <p:spPr>
          <a:xfrm>
            <a:off x="777240" y="2697480"/>
            <a:ext cx="1973504" cy="411480"/>
          </a:xfrm>
          <a:prstGeom prst="rect">
            <a:avLst/>
          </a:prstGeom>
          <a:noFill/>
          <a:ln/>
        </p:spPr>
        <p:txBody>
          <a:bodyPr wrap="square" lIns="0" tIns="0" rIns="0" bIns="0" rtlCol="0" anchor="ctr"/>
          <a:lstStyle/>
          <a:p>
            <a:pPr indent="0" marL="0">
              <a:buNone/>
            </a:pPr>
            <a:r>
              <a:rPr lang="en-US" sz="2000" b="1" dirty="0">
                <a:solidFill>
                  <a:schemeClr val="bg1"/>
                </a:solidFill>
              </a:rPr>
              <a:t>File Manager</a:t>
            </a:r>
            <a:endParaRPr lang="en-US" sz="2000" dirty="0"/>
          </a:p>
        </p:txBody>
      </p:sp>
      <p:sp>
        <p:nvSpPr>
          <p:cNvPr id="7" name="Text 4"/>
          <p:cNvSpPr txBox="1"/>
          <p:nvPr/>
        </p:nvSpPr>
        <p:spPr>
          <a:xfrm>
            <a:off x="777240" y="3108960"/>
            <a:ext cx="1973504" cy="914400"/>
          </a:xfrm>
          <a:prstGeom prst="rect">
            <a:avLst/>
          </a:prstGeom>
          <a:noFill/>
          <a:ln/>
        </p:spPr>
        <p:txBody>
          <a:bodyPr wrap="square" lIns="0" tIns="0" rIns="0" bIns="0" rtlCol="0" anchor="t"/>
          <a:lstStyle/>
          <a:p>
            <a:pPr indent="0" marL="0">
              <a:buNone/>
            </a:pPr>
            <a:r>
              <a:rPr lang="en-US" sz="1400" dirty="0">
                <a:solidFill>
                  <a:schemeClr val="bg2"/>
                </a:solidFill>
              </a:rPr>
              <a:t>Two panels, tabs, splits, previews and an editor</a:t>
            </a:r>
            <a:endParaRPr lang="en-US" sz="1400" dirty="0"/>
          </a:p>
        </p:txBody>
      </p:sp>
      <p:sp>
        <p:nvSpPr>
          <p:cNvPr id="8" name="card Search"/>
          <p:cNvSpPr/>
          <p:nvPr/>
        </p:nvSpPr>
        <p:spPr>
          <a:xfrm>
            <a:off x="3345104" y="1463040"/>
            <a:ext cx="2613584" cy="2697480"/>
          </a:xfrm>
          <a:prstGeom prst="roundRect">
            <a:avLst>
              <a:gd name="adj" fmla="val 4198"/>
            </a:avLst>
          </a:prstGeom>
          <a:solidFill>
            <a:schemeClr val="accent3"/>
          </a:solidFill>
          <a:ln/>
        </p:spPr>
      </p:sp>
      <p:sp>
        <p:nvSpPr>
          <p:cNvPr id="9" name="card Search circle"/>
          <p:cNvSpPr/>
          <p:nvPr/>
        </p:nvSpPr>
        <p:spPr>
          <a:xfrm>
            <a:off x="3665144" y="1783080"/>
            <a:ext cx="731520" cy="731520"/>
          </a:xfrm>
          <a:prstGeom prst="ellipse">
            <a:avLst/>
          </a:prstGeom>
          <a:solidFill>
            <a:schemeClr val="accent1"/>
          </a:solidFill>
          <a:ln/>
        </p:spPr>
      </p:sp>
      <p:pic>
        <p:nvPicPr>
          <p:cNvPr id="10" name="card Search icon" descr="Search">    </p:cNvPr>
          <p:cNvPicPr>
            <a:picLocks noChangeAspect="1"/>
          </p:cNvPicPr>
          <p:nvPr/>
        </p:nvPicPr>
        <p:blipFill>
          <a:blip r:embed="rId2"/>
          <a:stretch>
            <a:fillRect/>
          </a:stretch>
        </p:blipFill>
        <p:spPr>
          <a:xfrm>
            <a:off x="3829736" y="1947672"/>
            <a:ext cx="402336" cy="402336"/>
          </a:xfrm>
          <a:prstGeom prst="rect">
            <a:avLst/>
          </a:prstGeom>
        </p:spPr>
      </p:pic>
      <p:sp>
        <p:nvSpPr>
          <p:cNvPr id="11" name="Text 7"/>
          <p:cNvSpPr txBox="1"/>
          <p:nvPr/>
        </p:nvSpPr>
        <p:spPr>
          <a:xfrm>
            <a:off x="3665144" y="2697480"/>
            <a:ext cx="1973504" cy="411480"/>
          </a:xfrm>
          <a:prstGeom prst="rect">
            <a:avLst/>
          </a:prstGeom>
          <a:noFill/>
          <a:ln/>
        </p:spPr>
        <p:txBody>
          <a:bodyPr wrap="square" lIns="0" tIns="0" rIns="0" bIns="0" rtlCol="0" anchor="ctr"/>
          <a:lstStyle/>
          <a:p>
            <a:pPr indent="0" marL="0">
              <a:buNone/>
            </a:pPr>
            <a:r>
              <a:rPr lang="en-US" sz="2000" b="1" dirty="0">
                <a:solidFill>
                  <a:schemeClr val="bg1"/>
                </a:solidFill>
              </a:rPr>
              <a:t>Search</a:t>
            </a:r>
            <a:endParaRPr lang="en-US" sz="2000" dirty="0"/>
          </a:p>
        </p:txBody>
      </p:sp>
      <p:sp>
        <p:nvSpPr>
          <p:cNvPr id="12" name="Text 8"/>
          <p:cNvSpPr txBox="1"/>
          <p:nvPr/>
        </p:nvSpPr>
        <p:spPr>
          <a:xfrm>
            <a:off x="3665144" y="3108960"/>
            <a:ext cx="1973504" cy="914400"/>
          </a:xfrm>
          <a:prstGeom prst="rect">
            <a:avLst/>
          </a:prstGeom>
          <a:noFill/>
          <a:ln/>
        </p:spPr>
        <p:txBody>
          <a:bodyPr wrap="square" lIns="0" tIns="0" rIns="0" bIns="0" rtlCol="0" anchor="t"/>
          <a:lstStyle/>
          <a:p>
            <a:pPr indent="0" marL="0">
              <a:buNone/>
            </a:pPr>
            <a:r>
              <a:rPr lang="en-US" sz="1400" dirty="0">
                <a:solidFill>
                  <a:schemeClr val="bg2"/>
                </a:solidFill>
              </a:rPr>
              <a:t>Find files by name in the workspace or a folder</a:t>
            </a:r>
            <a:endParaRPr lang="en-US" sz="1400" dirty="0"/>
          </a:p>
        </p:txBody>
      </p:sp>
      <p:sp>
        <p:nvSpPr>
          <p:cNvPr id="13" name="card Disk Usage"/>
          <p:cNvSpPr/>
          <p:nvPr/>
        </p:nvSpPr>
        <p:spPr>
          <a:xfrm>
            <a:off x="6233008" y="1463040"/>
            <a:ext cx="2613584" cy="2697480"/>
          </a:xfrm>
          <a:prstGeom prst="roundRect">
            <a:avLst>
              <a:gd name="adj" fmla="val 4198"/>
            </a:avLst>
          </a:prstGeom>
          <a:solidFill>
            <a:schemeClr val="accent3"/>
          </a:solidFill>
          <a:ln/>
        </p:spPr>
      </p:sp>
      <p:sp>
        <p:nvSpPr>
          <p:cNvPr id="14" name="card Disk Usage circle"/>
          <p:cNvSpPr/>
          <p:nvPr/>
        </p:nvSpPr>
        <p:spPr>
          <a:xfrm>
            <a:off x="6553048" y="1783080"/>
            <a:ext cx="731520" cy="731520"/>
          </a:xfrm>
          <a:prstGeom prst="ellipse">
            <a:avLst/>
          </a:prstGeom>
          <a:solidFill>
            <a:schemeClr val="accent1"/>
          </a:solidFill>
          <a:ln/>
        </p:spPr>
      </p:sp>
      <p:pic>
        <p:nvPicPr>
          <p:cNvPr id="15" name="card Disk Usage icon" descr="Disk Usage">    </p:cNvPr>
          <p:cNvPicPr>
            <a:picLocks noChangeAspect="1"/>
          </p:cNvPicPr>
          <p:nvPr/>
        </p:nvPicPr>
        <p:blipFill>
          <a:blip r:embed="rId3"/>
          <a:stretch>
            <a:fillRect/>
          </a:stretch>
        </p:blipFill>
        <p:spPr>
          <a:xfrm>
            <a:off x="6717640" y="1947672"/>
            <a:ext cx="402336" cy="402336"/>
          </a:xfrm>
          <a:prstGeom prst="rect">
            <a:avLst/>
          </a:prstGeom>
        </p:spPr>
      </p:pic>
      <p:sp>
        <p:nvSpPr>
          <p:cNvPr id="16" name="Text 11"/>
          <p:cNvSpPr txBox="1"/>
          <p:nvPr/>
        </p:nvSpPr>
        <p:spPr>
          <a:xfrm>
            <a:off x="6553048" y="2697480"/>
            <a:ext cx="1973504" cy="411480"/>
          </a:xfrm>
          <a:prstGeom prst="rect">
            <a:avLst/>
          </a:prstGeom>
          <a:noFill/>
          <a:ln/>
        </p:spPr>
        <p:txBody>
          <a:bodyPr wrap="square" lIns="0" tIns="0" rIns="0" bIns="0" rtlCol="0" anchor="ctr"/>
          <a:lstStyle/>
          <a:p>
            <a:pPr indent="0" marL="0">
              <a:buNone/>
            </a:pPr>
            <a:r>
              <a:rPr lang="en-US" sz="2000" b="1" dirty="0">
                <a:solidFill>
                  <a:schemeClr val="bg1"/>
                </a:solidFill>
              </a:rPr>
              <a:t>Disk Usage</a:t>
            </a:r>
            <a:endParaRPr lang="en-US" sz="2000" dirty="0"/>
          </a:p>
        </p:txBody>
      </p:sp>
      <p:sp>
        <p:nvSpPr>
          <p:cNvPr id="17" name="Text 12"/>
          <p:cNvSpPr txBox="1"/>
          <p:nvPr/>
        </p:nvSpPr>
        <p:spPr>
          <a:xfrm>
            <a:off x="6553048" y="3108960"/>
            <a:ext cx="1973504" cy="914400"/>
          </a:xfrm>
          <a:prstGeom prst="rect">
            <a:avLst/>
          </a:prstGeom>
          <a:noFill/>
          <a:ln/>
        </p:spPr>
        <p:txBody>
          <a:bodyPr wrap="square" lIns="0" tIns="0" rIns="0" bIns="0" rtlCol="0" anchor="t"/>
          <a:lstStyle/>
          <a:p>
            <a:pPr indent="0" marL="0">
              <a:buNone/>
            </a:pPr>
            <a:r>
              <a:rPr lang="en-US" sz="1400" dirty="0">
                <a:solidFill>
                  <a:schemeClr val="bg2"/>
                </a:solidFill>
              </a:rPr>
              <a:t>See where the space went: pie, table or treemap</a:t>
            </a:r>
            <a:endParaRPr lang="en-US" sz="1400" dirty="0"/>
          </a:p>
        </p:txBody>
      </p:sp>
      <p:sp>
        <p:nvSpPr>
          <p:cNvPr id="18" name="card Task Manager"/>
          <p:cNvSpPr/>
          <p:nvPr/>
        </p:nvSpPr>
        <p:spPr>
          <a:xfrm>
            <a:off x="9120911" y="1463040"/>
            <a:ext cx="2613584" cy="2697480"/>
          </a:xfrm>
          <a:prstGeom prst="roundRect">
            <a:avLst>
              <a:gd name="adj" fmla="val 4198"/>
            </a:avLst>
          </a:prstGeom>
          <a:solidFill>
            <a:schemeClr val="accent3"/>
          </a:solidFill>
          <a:ln/>
        </p:spPr>
      </p:sp>
      <p:sp>
        <p:nvSpPr>
          <p:cNvPr id="19" name="card Task Manager circle"/>
          <p:cNvSpPr/>
          <p:nvPr/>
        </p:nvSpPr>
        <p:spPr>
          <a:xfrm>
            <a:off x="9440951" y="1783080"/>
            <a:ext cx="731520" cy="731520"/>
          </a:xfrm>
          <a:prstGeom prst="ellipse">
            <a:avLst/>
          </a:prstGeom>
          <a:solidFill>
            <a:schemeClr val="accent1"/>
          </a:solidFill>
          <a:ln/>
        </p:spPr>
      </p:sp>
      <p:pic>
        <p:nvPicPr>
          <p:cNvPr id="20" name="card Task Manager icon" descr="Task Manager">    </p:cNvPr>
          <p:cNvPicPr>
            <a:picLocks noChangeAspect="1"/>
          </p:cNvPicPr>
          <p:nvPr/>
        </p:nvPicPr>
        <p:blipFill>
          <a:blip r:embed="rId4"/>
          <a:stretch>
            <a:fillRect/>
          </a:stretch>
        </p:blipFill>
        <p:spPr>
          <a:xfrm>
            <a:off x="9605543" y="1947672"/>
            <a:ext cx="402336" cy="402336"/>
          </a:xfrm>
          <a:prstGeom prst="rect">
            <a:avLst/>
          </a:prstGeom>
        </p:spPr>
      </p:pic>
      <p:sp>
        <p:nvSpPr>
          <p:cNvPr id="21" name="Text 15"/>
          <p:cNvSpPr txBox="1"/>
          <p:nvPr/>
        </p:nvSpPr>
        <p:spPr>
          <a:xfrm>
            <a:off x="9440951" y="2697480"/>
            <a:ext cx="1973504" cy="411480"/>
          </a:xfrm>
          <a:prstGeom prst="rect">
            <a:avLst/>
          </a:prstGeom>
          <a:noFill/>
          <a:ln/>
        </p:spPr>
        <p:txBody>
          <a:bodyPr wrap="square" lIns="0" tIns="0" rIns="0" bIns="0" rtlCol="0" anchor="ctr"/>
          <a:lstStyle/>
          <a:p>
            <a:pPr indent="0" marL="0">
              <a:buNone/>
            </a:pPr>
            <a:r>
              <a:rPr lang="en-US" sz="2000" b="1" dirty="0">
                <a:solidFill>
                  <a:schemeClr val="bg1"/>
                </a:solidFill>
              </a:rPr>
              <a:t>Task Manager</a:t>
            </a:r>
            <a:endParaRPr lang="en-US" sz="2000" dirty="0"/>
          </a:p>
        </p:txBody>
      </p:sp>
      <p:sp>
        <p:nvSpPr>
          <p:cNvPr id="22" name="Text 16"/>
          <p:cNvSpPr txBox="1"/>
          <p:nvPr/>
        </p:nvSpPr>
        <p:spPr>
          <a:xfrm>
            <a:off x="9440951" y="3108960"/>
            <a:ext cx="1973504" cy="914400"/>
          </a:xfrm>
          <a:prstGeom prst="rect">
            <a:avLst/>
          </a:prstGeom>
          <a:noFill/>
          <a:ln/>
        </p:spPr>
        <p:txBody>
          <a:bodyPr wrap="square" lIns="0" tIns="0" rIns="0" bIns="0" rtlCol="0" anchor="t"/>
          <a:lstStyle/>
          <a:p>
            <a:pPr indent="0" marL="0">
              <a:buNone/>
            </a:pPr>
            <a:r>
              <a:rPr lang="en-US" sz="1400" dirty="0">
                <a:solidFill>
                  <a:schemeClr val="bg2"/>
                </a:solidFill>
              </a:rPr>
              <a:t>Processes and live graphs of the machine</a:t>
            </a:r>
            <a:endParaRPr lang="en-US" sz="1400" dirty="0"/>
          </a:p>
        </p:txBody>
      </p:sp>
      <p:sp>
        <p:nvSpPr>
          <p:cNvPr id="23" name="Text 17"/>
          <p:cNvSpPr txBox="1"/>
          <p:nvPr/>
        </p:nvSpPr>
        <p:spPr>
          <a:xfrm>
            <a:off x="457200" y="4572000"/>
            <a:ext cx="3576218" cy="50292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Browser or desktop</a:t>
            </a:r>
            <a:endParaRPr lang="en-US" sz="2400" dirty="0"/>
          </a:p>
        </p:txBody>
      </p:sp>
      <p:sp>
        <p:nvSpPr>
          <p:cNvPr id="24" name="Text 18"/>
          <p:cNvSpPr txBox="1"/>
          <p:nvPr/>
        </p:nvSpPr>
        <p:spPr>
          <a:xfrm>
            <a:off x="457200" y="5074920"/>
            <a:ext cx="3576218" cy="640080"/>
          </a:xfrm>
          <a:prstGeom prst="rect">
            <a:avLst/>
          </a:prstGeom>
          <a:noFill/>
          <a:ln/>
        </p:spPr>
        <p:txBody>
          <a:bodyPr wrap="square" lIns="0" tIns="0" rIns="0" bIns="0" rtlCol="0" anchor="t"/>
          <a:lstStyle/>
          <a:p>
            <a:pPr indent="0" marL="0">
              <a:buNone/>
            </a:pPr>
            <a:r>
              <a:rPr lang="en-US" sz="1500" dirty="0">
                <a:solidFill>
                  <a:schemeClr val="bg2"/>
                </a:solidFill>
              </a:rPr>
              <a:t>The same app on a server, or as one Electron window</a:t>
            </a:r>
            <a:endParaRPr lang="en-US" sz="1500" dirty="0"/>
          </a:p>
        </p:txBody>
      </p:sp>
      <p:sp>
        <p:nvSpPr>
          <p:cNvPr id="25" name="Text 19"/>
          <p:cNvSpPr txBox="1"/>
          <p:nvPr/>
        </p:nvSpPr>
        <p:spPr>
          <a:xfrm>
            <a:off x="4307738" y="4572000"/>
            <a:ext cx="3576218" cy="50292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Everything has a key</a:t>
            </a:r>
            <a:endParaRPr lang="en-US" sz="2400" dirty="0"/>
          </a:p>
        </p:txBody>
      </p:sp>
      <p:sp>
        <p:nvSpPr>
          <p:cNvPr id="26" name="Text 20"/>
          <p:cNvSpPr txBox="1"/>
          <p:nvPr/>
        </p:nvSpPr>
        <p:spPr>
          <a:xfrm>
            <a:off x="4307738" y="5074920"/>
            <a:ext cx="3576218" cy="640080"/>
          </a:xfrm>
          <a:prstGeom prst="rect">
            <a:avLst/>
          </a:prstGeom>
          <a:noFill/>
          <a:ln/>
        </p:spPr>
        <p:txBody>
          <a:bodyPr wrap="square" lIns="0" tIns="0" rIns="0" bIns="0" rtlCol="0" anchor="t"/>
          <a:lstStyle/>
          <a:p>
            <a:pPr indent="0" marL="0">
              <a:buNone/>
            </a:pPr>
            <a:r>
              <a:rPr lang="en-US" sz="1500" dirty="0">
                <a:solidFill>
                  <a:schemeClr val="bg2"/>
                </a:solidFill>
              </a:rPr>
              <a:t>And every key can be changed — F1 shows them all</a:t>
            </a:r>
            <a:endParaRPr lang="en-US" sz="1500" dirty="0"/>
          </a:p>
        </p:txBody>
      </p:sp>
      <p:sp>
        <p:nvSpPr>
          <p:cNvPr id="27" name="Text 21"/>
          <p:cNvSpPr txBox="1"/>
          <p:nvPr/>
        </p:nvSpPr>
        <p:spPr>
          <a:xfrm>
            <a:off x="8158277" y="4572000"/>
            <a:ext cx="3576218" cy="50292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Nothing blinks</a:t>
            </a:r>
            <a:endParaRPr lang="en-US" sz="2400" dirty="0"/>
          </a:p>
        </p:txBody>
      </p:sp>
      <p:sp>
        <p:nvSpPr>
          <p:cNvPr id="28" name="Text 22"/>
          <p:cNvSpPr txBox="1"/>
          <p:nvPr/>
        </p:nvSpPr>
        <p:spPr>
          <a:xfrm>
            <a:off x="8158277" y="5074920"/>
            <a:ext cx="3576218" cy="640080"/>
          </a:xfrm>
          <a:prstGeom prst="rect">
            <a:avLst/>
          </a:prstGeom>
          <a:noFill/>
          <a:ln/>
        </p:spPr>
        <p:txBody>
          <a:bodyPr wrap="square" lIns="0" tIns="0" rIns="0" bIns="0" rtlCol="0" anchor="t"/>
          <a:lstStyle/>
          <a:p>
            <a:pPr indent="0" marL="0">
              <a:buNone/>
            </a:pPr>
            <a:r>
              <a:rPr lang="en-US" sz="1500" dirty="0">
                <a:solidFill>
                  <a:schemeClr val="bg2"/>
                </a:solidFill>
              </a:rPr>
              <a:t>Reloads keep what is on screen until the answer lands</a:t>
            </a:r>
            <a:endParaRPr lang="en-US" sz="15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The window</a:t>
            </a:r>
            <a:endParaRPr lang="en-US" sz="3600" dirty="0"/>
          </a:p>
        </p:txBody>
      </p:sp>
      <p:sp>
        <p:nvSpPr>
          <p:cNvPr id="3" name="frame 01-overview"/>
          <p:cNvSpPr/>
          <p:nvPr/>
        </p:nvSpPr>
        <p:spPr>
          <a:xfrm>
            <a:off x="420624" y="1289304"/>
            <a:ext cx="7936992" cy="476961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1-overview" descr="overview">    </p:cNvPr>
          <p:cNvPicPr>
            <a:picLocks noChangeAspect="1"/>
          </p:cNvPicPr>
          <p:nvPr/>
        </p:nvPicPr>
        <p:blipFill>
          <a:blip r:embed="rId1"/>
          <a:stretch>
            <a:fillRect/>
          </a:stretch>
        </p:blipFill>
        <p:spPr>
          <a:xfrm>
            <a:off x="457200" y="1325880"/>
            <a:ext cx="7863840" cy="4696460"/>
          </a:xfrm>
          <a:prstGeom prst="rect">
            <a:avLst/>
          </a:prstGeom>
        </p:spPr>
      </p:pic>
      <p:sp>
        <p:nvSpPr>
          <p:cNvPr id="5" name="badge 1"/>
          <p:cNvSpPr/>
          <p:nvPr/>
        </p:nvSpPr>
        <p:spPr>
          <a:xfrm>
            <a:off x="8732520" y="1389888"/>
            <a:ext cx="329184" cy="329184"/>
          </a:xfrm>
          <a:prstGeom prst="ellipse">
            <a:avLst/>
          </a:prstGeom>
          <a:solidFill>
            <a:schemeClr val="accent1"/>
          </a:solidFill>
          <a:ln/>
        </p:spPr>
      </p:sp>
      <p:sp>
        <p:nvSpPr>
          <p:cNvPr id="6" name="badge 1 label"/>
          <p:cNvSpPr txBox="1"/>
          <p:nvPr/>
        </p:nvSpPr>
        <p:spPr>
          <a:xfrm>
            <a:off x="873252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9189720" y="1371600"/>
            <a:ext cx="2544775" cy="461772"/>
          </a:xfrm>
          <a:prstGeom prst="rect">
            <a:avLst/>
          </a:prstGeom>
          <a:noFill/>
          <a:ln/>
        </p:spPr>
        <p:txBody>
          <a:bodyPr wrap="square" lIns="0" tIns="0" rIns="0" bIns="0" rtlCol="0" anchor="t"/>
          <a:lstStyle/>
          <a:p>
            <a:pPr indent="0" marL="0">
              <a:buNone/>
            </a:pPr>
            <a:r>
              <a:rPr lang="en-US" sz="1400" b="1" dirty="0">
                <a:solidFill>
                  <a:schemeClr val="bg1"/>
                </a:solidFill>
              </a:rPr>
              <a:t>Main menu</a:t>
            </a:r>
            <a:pPr indent="0" marL="0">
              <a:buNone/>
            </a:pPr>
            <a:r>
              <a:rPr lang="en-US" sz="1400" dirty="0">
                <a:solidFill>
                  <a:schemeClr val="bg2"/>
                </a:solidFill>
              </a:rPr>
              <a:t>  F9</a:t>
            </a:r>
            <a:endParaRPr lang="en-US" sz="1400" dirty="0"/>
          </a:p>
        </p:txBody>
      </p:sp>
      <p:sp>
        <p:nvSpPr>
          <p:cNvPr id="8" name="badge 2"/>
          <p:cNvSpPr/>
          <p:nvPr/>
        </p:nvSpPr>
        <p:spPr>
          <a:xfrm>
            <a:off x="8732520" y="1888236"/>
            <a:ext cx="329184" cy="329184"/>
          </a:xfrm>
          <a:prstGeom prst="ellipse">
            <a:avLst/>
          </a:prstGeom>
          <a:solidFill>
            <a:schemeClr val="accent1"/>
          </a:solidFill>
          <a:ln/>
        </p:spPr>
      </p:sp>
      <p:sp>
        <p:nvSpPr>
          <p:cNvPr id="9" name="badge 2 label"/>
          <p:cNvSpPr txBox="1"/>
          <p:nvPr/>
        </p:nvSpPr>
        <p:spPr>
          <a:xfrm>
            <a:off x="8732520" y="1888236"/>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9189720" y="1869948"/>
            <a:ext cx="2544775" cy="461772"/>
          </a:xfrm>
          <a:prstGeom prst="rect">
            <a:avLst/>
          </a:prstGeom>
          <a:noFill/>
          <a:ln/>
        </p:spPr>
        <p:txBody>
          <a:bodyPr wrap="square" lIns="0" tIns="0" rIns="0" bIns="0" rtlCol="0" anchor="t"/>
          <a:lstStyle/>
          <a:p>
            <a:pPr indent="0" marL="0">
              <a:buNone/>
            </a:pPr>
            <a:r>
              <a:rPr lang="en-US" sz="1400" b="1" dirty="0">
                <a:solidFill>
                  <a:schemeClr val="bg1"/>
                </a:solidFill>
              </a:rPr>
              <a:t>Command palette</a:t>
            </a:r>
            <a:pPr indent="0" marL="0">
              <a:buNone/>
            </a:pPr>
            <a:r>
              <a:rPr lang="en-US" sz="1400" dirty="0">
                <a:solidFill>
                  <a:schemeClr val="bg2"/>
                </a:solidFill>
              </a:rPr>
              <a:t>  Ctrl+Shift+P</a:t>
            </a:r>
            <a:endParaRPr lang="en-US" sz="1400" dirty="0"/>
          </a:p>
        </p:txBody>
      </p:sp>
      <p:sp>
        <p:nvSpPr>
          <p:cNvPr id="11" name="badge 3"/>
          <p:cNvSpPr/>
          <p:nvPr/>
        </p:nvSpPr>
        <p:spPr>
          <a:xfrm>
            <a:off x="8732520" y="2386584"/>
            <a:ext cx="329184" cy="329184"/>
          </a:xfrm>
          <a:prstGeom prst="ellipse">
            <a:avLst/>
          </a:prstGeom>
          <a:solidFill>
            <a:schemeClr val="accent1"/>
          </a:solidFill>
          <a:ln/>
        </p:spPr>
      </p:sp>
      <p:sp>
        <p:nvSpPr>
          <p:cNvPr id="12" name="badge 3 label"/>
          <p:cNvSpPr txBox="1"/>
          <p:nvPr/>
        </p:nvSpPr>
        <p:spPr>
          <a:xfrm>
            <a:off x="8732520" y="238658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9189720" y="2368296"/>
            <a:ext cx="2544775" cy="461772"/>
          </a:xfrm>
          <a:prstGeom prst="rect">
            <a:avLst/>
          </a:prstGeom>
          <a:noFill/>
          <a:ln/>
        </p:spPr>
        <p:txBody>
          <a:bodyPr wrap="square" lIns="0" tIns="0" rIns="0" bIns="0" rtlCol="0" anchor="t"/>
          <a:lstStyle/>
          <a:p>
            <a:pPr indent="0" marL="0">
              <a:buNone/>
            </a:pPr>
            <a:r>
              <a:rPr lang="en-US" sz="1400" b="1" dirty="0">
                <a:solidFill>
                  <a:schemeClr val="bg1"/>
                </a:solidFill>
              </a:rPr>
              <a:t>Theme and layout</a:t>
            </a:r>
            <a:endParaRPr lang="en-US" sz="1400" dirty="0"/>
          </a:p>
        </p:txBody>
      </p:sp>
      <p:sp>
        <p:nvSpPr>
          <p:cNvPr id="14" name="badge 4"/>
          <p:cNvSpPr/>
          <p:nvPr/>
        </p:nvSpPr>
        <p:spPr>
          <a:xfrm>
            <a:off x="8732520" y="2884932"/>
            <a:ext cx="329184" cy="329184"/>
          </a:xfrm>
          <a:prstGeom prst="ellipse">
            <a:avLst/>
          </a:prstGeom>
          <a:solidFill>
            <a:schemeClr val="accent1"/>
          </a:solidFill>
          <a:ln/>
        </p:spPr>
      </p:sp>
      <p:sp>
        <p:nvSpPr>
          <p:cNvPr id="15" name="badge 4 label"/>
          <p:cNvSpPr txBox="1"/>
          <p:nvPr/>
        </p:nvSpPr>
        <p:spPr>
          <a:xfrm>
            <a:off x="8732520" y="2884932"/>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9189720" y="2866644"/>
            <a:ext cx="2544775" cy="461772"/>
          </a:xfrm>
          <a:prstGeom prst="rect">
            <a:avLst/>
          </a:prstGeom>
          <a:noFill/>
          <a:ln/>
        </p:spPr>
        <p:txBody>
          <a:bodyPr wrap="square" lIns="0" tIns="0" rIns="0" bIns="0" rtlCol="0" anchor="t"/>
          <a:lstStyle/>
          <a:p>
            <a:pPr indent="0" marL="0">
              <a:buNone/>
            </a:pPr>
            <a:r>
              <a:rPr lang="en-US" sz="1400" b="1" dirty="0">
                <a:solidFill>
                  <a:schemeClr val="bg1"/>
                </a:solidFill>
              </a:rPr>
              <a:t>Activity bar</a:t>
            </a:r>
            <a:pPr indent="0" marL="0">
              <a:buNone/>
            </a:pPr>
            <a:r>
              <a:rPr lang="en-US" sz="1400" dirty="0">
                <a:solidFill>
                  <a:schemeClr val="bg2"/>
                </a:solidFill>
              </a:rPr>
              <a:t>  switch apps</a:t>
            </a:r>
            <a:endParaRPr lang="en-US" sz="1400" dirty="0"/>
          </a:p>
        </p:txBody>
      </p:sp>
      <p:sp>
        <p:nvSpPr>
          <p:cNvPr id="17" name="badge 5"/>
          <p:cNvSpPr/>
          <p:nvPr/>
        </p:nvSpPr>
        <p:spPr>
          <a:xfrm>
            <a:off x="8732520" y="3383280"/>
            <a:ext cx="329184" cy="329184"/>
          </a:xfrm>
          <a:prstGeom prst="ellipse">
            <a:avLst/>
          </a:prstGeom>
          <a:solidFill>
            <a:schemeClr val="accent1"/>
          </a:solidFill>
          <a:ln/>
        </p:spPr>
      </p:sp>
      <p:sp>
        <p:nvSpPr>
          <p:cNvPr id="18" name="badge 5 label"/>
          <p:cNvSpPr txBox="1"/>
          <p:nvPr/>
        </p:nvSpPr>
        <p:spPr>
          <a:xfrm>
            <a:off x="8732520" y="338328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9" name="legend 5"/>
          <p:cNvSpPr txBox="1"/>
          <p:nvPr/>
        </p:nvSpPr>
        <p:spPr>
          <a:xfrm>
            <a:off x="9189720" y="3364992"/>
            <a:ext cx="2544775" cy="461772"/>
          </a:xfrm>
          <a:prstGeom prst="rect">
            <a:avLst/>
          </a:prstGeom>
          <a:noFill/>
          <a:ln/>
        </p:spPr>
        <p:txBody>
          <a:bodyPr wrap="square" lIns="0" tIns="0" rIns="0" bIns="0" rtlCol="0" anchor="t"/>
          <a:lstStyle/>
          <a:p>
            <a:pPr indent="0" marL="0">
              <a:buNone/>
            </a:pPr>
            <a:r>
              <a:rPr lang="en-US" sz="1400" b="1" dirty="0">
                <a:solidFill>
                  <a:schemeClr val="bg1"/>
                </a:solidFill>
              </a:rPr>
              <a:t>Explorer</a:t>
            </a:r>
            <a:pPr indent="0" marL="0">
              <a:buNone/>
            </a:pPr>
            <a:r>
              <a:rPr lang="en-US" sz="1400" dirty="0">
                <a:solidFill>
                  <a:schemeClr val="bg2"/>
                </a:solidFill>
              </a:rPr>
              <a:t>  places, bookmarks, tree</a:t>
            </a:r>
            <a:endParaRPr lang="en-US" sz="1400" dirty="0"/>
          </a:p>
        </p:txBody>
      </p:sp>
      <p:sp>
        <p:nvSpPr>
          <p:cNvPr id="20" name="badge 6"/>
          <p:cNvSpPr/>
          <p:nvPr/>
        </p:nvSpPr>
        <p:spPr>
          <a:xfrm>
            <a:off x="8732520" y="3881628"/>
            <a:ext cx="329184" cy="329184"/>
          </a:xfrm>
          <a:prstGeom prst="ellipse">
            <a:avLst/>
          </a:prstGeom>
          <a:solidFill>
            <a:schemeClr val="accent1"/>
          </a:solidFill>
          <a:ln/>
        </p:spPr>
      </p:sp>
      <p:sp>
        <p:nvSpPr>
          <p:cNvPr id="21" name="badge 6 label"/>
          <p:cNvSpPr txBox="1"/>
          <p:nvPr/>
        </p:nvSpPr>
        <p:spPr>
          <a:xfrm>
            <a:off x="8732520" y="38816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2" name="legend 6"/>
          <p:cNvSpPr txBox="1"/>
          <p:nvPr/>
        </p:nvSpPr>
        <p:spPr>
          <a:xfrm>
            <a:off x="9189720" y="3863340"/>
            <a:ext cx="2544775" cy="461772"/>
          </a:xfrm>
          <a:prstGeom prst="rect">
            <a:avLst/>
          </a:prstGeom>
          <a:noFill/>
          <a:ln/>
        </p:spPr>
        <p:txBody>
          <a:bodyPr wrap="square" lIns="0" tIns="0" rIns="0" bIns="0" rtlCol="0" anchor="t"/>
          <a:lstStyle/>
          <a:p>
            <a:pPr indent="0" marL="0">
              <a:buNone/>
            </a:pPr>
            <a:r>
              <a:rPr lang="en-US" sz="1400" b="1" dirty="0">
                <a:solidFill>
                  <a:schemeClr val="bg1"/>
                </a:solidFill>
              </a:rPr>
              <a:t>Two file panels</a:t>
            </a:r>
            <a:endParaRPr lang="en-US" sz="1400" dirty="0"/>
          </a:p>
        </p:txBody>
      </p:sp>
      <p:sp>
        <p:nvSpPr>
          <p:cNvPr id="23" name="badge 7"/>
          <p:cNvSpPr/>
          <p:nvPr/>
        </p:nvSpPr>
        <p:spPr>
          <a:xfrm>
            <a:off x="8732520" y="4379976"/>
            <a:ext cx="329184" cy="329184"/>
          </a:xfrm>
          <a:prstGeom prst="ellipse">
            <a:avLst/>
          </a:prstGeom>
          <a:solidFill>
            <a:schemeClr val="accent1"/>
          </a:solidFill>
          <a:ln/>
        </p:spPr>
      </p:sp>
      <p:sp>
        <p:nvSpPr>
          <p:cNvPr id="24" name="badge 7 label"/>
          <p:cNvSpPr txBox="1"/>
          <p:nvPr/>
        </p:nvSpPr>
        <p:spPr>
          <a:xfrm>
            <a:off x="8732520" y="4379976"/>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25" name="legend 7"/>
          <p:cNvSpPr txBox="1"/>
          <p:nvPr/>
        </p:nvSpPr>
        <p:spPr>
          <a:xfrm>
            <a:off x="9189720" y="4361688"/>
            <a:ext cx="2544775" cy="461772"/>
          </a:xfrm>
          <a:prstGeom prst="rect">
            <a:avLst/>
          </a:prstGeom>
          <a:noFill/>
          <a:ln/>
        </p:spPr>
        <p:txBody>
          <a:bodyPr wrap="square" lIns="0" tIns="0" rIns="0" bIns="0" rtlCol="0" anchor="t"/>
          <a:lstStyle/>
          <a:p>
            <a:pPr indent="0" marL="0">
              <a:buNone/>
            </a:pPr>
            <a:r>
              <a:rPr lang="en-US" sz="1400" b="1" dirty="0">
                <a:solidFill>
                  <a:schemeClr val="bg1"/>
                </a:solidFill>
              </a:rPr>
              <a:t>Details</a:t>
            </a:r>
            <a:pPr indent="0" marL="0">
              <a:buNone/>
            </a:pPr>
            <a:r>
              <a:rPr lang="en-US" sz="1400" dirty="0">
                <a:solidFill>
                  <a:schemeClr val="bg2"/>
                </a:solidFill>
              </a:rPr>
              <a:t>  of the entry under the cursor</a:t>
            </a:r>
            <a:endParaRPr lang="en-US" sz="1400" dirty="0"/>
          </a:p>
        </p:txBody>
      </p:sp>
      <p:sp>
        <p:nvSpPr>
          <p:cNvPr id="26" name="badge 8"/>
          <p:cNvSpPr/>
          <p:nvPr/>
        </p:nvSpPr>
        <p:spPr>
          <a:xfrm>
            <a:off x="8732520" y="4878324"/>
            <a:ext cx="329184" cy="329184"/>
          </a:xfrm>
          <a:prstGeom prst="ellipse">
            <a:avLst/>
          </a:prstGeom>
          <a:solidFill>
            <a:schemeClr val="accent1"/>
          </a:solidFill>
          <a:ln/>
        </p:spPr>
      </p:sp>
      <p:sp>
        <p:nvSpPr>
          <p:cNvPr id="27" name="badge 8 label"/>
          <p:cNvSpPr txBox="1"/>
          <p:nvPr/>
        </p:nvSpPr>
        <p:spPr>
          <a:xfrm>
            <a:off x="8732520" y="4878324"/>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28" name="legend 8"/>
          <p:cNvSpPr txBox="1"/>
          <p:nvPr/>
        </p:nvSpPr>
        <p:spPr>
          <a:xfrm>
            <a:off x="9189720" y="4860036"/>
            <a:ext cx="2544775" cy="461772"/>
          </a:xfrm>
          <a:prstGeom prst="rect">
            <a:avLst/>
          </a:prstGeom>
          <a:noFill/>
          <a:ln/>
        </p:spPr>
        <p:txBody>
          <a:bodyPr wrap="square" lIns="0" tIns="0" rIns="0" bIns="0" rtlCol="0" anchor="t"/>
          <a:lstStyle/>
          <a:p>
            <a:pPr indent="0" marL="0">
              <a:buNone/>
            </a:pPr>
            <a:r>
              <a:rPr lang="en-US" sz="1400" b="1" dirty="0">
                <a:solidFill>
                  <a:schemeClr val="bg1"/>
                </a:solidFill>
              </a:rPr>
              <a:t>Bottom panel</a:t>
            </a:r>
            <a:pPr indent="0" marL="0">
              <a:buNone/>
            </a:pPr>
            <a:r>
              <a:rPr lang="en-US" sz="1400" dirty="0">
                <a:solidFill>
                  <a:schemeClr val="bg2"/>
                </a:solidFill>
              </a:rPr>
              <a:t>  transfers, jobs, notes</a:t>
            </a:r>
            <a:endParaRPr lang="en-US" sz="1400" dirty="0"/>
          </a:p>
        </p:txBody>
      </p:sp>
      <p:sp>
        <p:nvSpPr>
          <p:cNvPr id="29" name="badge 9"/>
          <p:cNvSpPr/>
          <p:nvPr/>
        </p:nvSpPr>
        <p:spPr>
          <a:xfrm>
            <a:off x="8732520" y="5376672"/>
            <a:ext cx="329184" cy="329184"/>
          </a:xfrm>
          <a:prstGeom prst="ellipse">
            <a:avLst/>
          </a:prstGeom>
          <a:solidFill>
            <a:schemeClr val="accent1"/>
          </a:solidFill>
          <a:ln/>
        </p:spPr>
      </p:sp>
      <p:sp>
        <p:nvSpPr>
          <p:cNvPr id="30" name="badge 9 label"/>
          <p:cNvSpPr txBox="1"/>
          <p:nvPr/>
        </p:nvSpPr>
        <p:spPr>
          <a:xfrm>
            <a:off x="8732520" y="5376672"/>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9</a:t>
            </a:r>
            <a:endParaRPr lang="en-US" sz="1300" dirty="0"/>
          </a:p>
        </p:txBody>
      </p:sp>
      <p:sp>
        <p:nvSpPr>
          <p:cNvPr id="31" name="legend 9"/>
          <p:cNvSpPr txBox="1"/>
          <p:nvPr/>
        </p:nvSpPr>
        <p:spPr>
          <a:xfrm>
            <a:off x="9189720" y="5358384"/>
            <a:ext cx="2544775" cy="461772"/>
          </a:xfrm>
          <a:prstGeom prst="rect">
            <a:avLst/>
          </a:prstGeom>
          <a:noFill/>
          <a:ln/>
        </p:spPr>
        <p:txBody>
          <a:bodyPr wrap="square" lIns="0" tIns="0" rIns="0" bIns="0" rtlCol="0" anchor="t"/>
          <a:lstStyle/>
          <a:p>
            <a:pPr indent="0" marL="0">
              <a:buNone/>
            </a:pPr>
            <a:r>
              <a:rPr lang="en-US" sz="1400" b="1" dirty="0">
                <a:solidFill>
                  <a:schemeClr val="bg1"/>
                </a:solidFill>
              </a:rPr>
              <a:t>Function keys</a:t>
            </a:r>
            <a:pPr indent="0" marL="0">
              <a:buNone/>
            </a:pPr>
            <a:r>
              <a:rPr lang="en-US" sz="1400" dirty="0">
                <a:solidFill>
                  <a:schemeClr val="bg2"/>
                </a:solidFill>
              </a:rPr>
              <a:t>  F1–F10</a:t>
            </a:r>
            <a:endParaRPr lang="en-US" sz="1400" dirty="0"/>
          </a:p>
        </p:txBody>
      </p:sp>
      <p:sp>
        <p:nvSpPr>
          <p:cNvPr id="32" name="badge 10"/>
          <p:cNvSpPr/>
          <p:nvPr/>
        </p:nvSpPr>
        <p:spPr>
          <a:xfrm>
            <a:off x="8732520" y="5875020"/>
            <a:ext cx="329184" cy="329184"/>
          </a:xfrm>
          <a:prstGeom prst="ellipse">
            <a:avLst/>
          </a:prstGeom>
          <a:solidFill>
            <a:schemeClr val="accent1"/>
          </a:solidFill>
          <a:ln/>
        </p:spPr>
      </p:sp>
      <p:sp>
        <p:nvSpPr>
          <p:cNvPr id="33" name="badge 10 label"/>
          <p:cNvSpPr txBox="1"/>
          <p:nvPr/>
        </p:nvSpPr>
        <p:spPr>
          <a:xfrm>
            <a:off x="8732520" y="5875020"/>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10</a:t>
            </a:r>
            <a:endParaRPr lang="en-US" sz="1300" dirty="0"/>
          </a:p>
        </p:txBody>
      </p:sp>
      <p:sp>
        <p:nvSpPr>
          <p:cNvPr id="34" name="legend 10"/>
          <p:cNvSpPr txBox="1"/>
          <p:nvPr/>
        </p:nvSpPr>
        <p:spPr>
          <a:xfrm>
            <a:off x="9189720" y="5856732"/>
            <a:ext cx="2544775" cy="461772"/>
          </a:xfrm>
          <a:prstGeom prst="rect">
            <a:avLst/>
          </a:prstGeom>
          <a:noFill/>
          <a:ln/>
        </p:spPr>
        <p:txBody>
          <a:bodyPr wrap="square" lIns="0" tIns="0" rIns="0" bIns="0" rtlCol="0" anchor="t"/>
          <a:lstStyle/>
          <a:p>
            <a:pPr indent="0" marL="0">
              <a:buNone/>
            </a:pPr>
            <a:r>
              <a:rPr lang="en-US" sz="1400" b="1" dirty="0">
                <a:solidFill>
                  <a:schemeClr val="bg1"/>
                </a:solidFill>
              </a:rPr>
              <a:t>Status</a:t>
            </a:r>
            <a:pPr indent="0" marL="0">
              <a:buNone/>
            </a:pPr>
            <a:r>
              <a:rPr lang="en-US" sz="1400" dirty="0">
                <a:solidFill>
                  <a:schemeClr val="bg2"/>
                </a:solidFill>
              </a:rPr>
              <a:t>  counts, sort, server clock</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A panel</a:t>
            </a:r>
            <a:endParaRPr lang="en-US" sz="3600" dirty="0"/>
          </a:p>
        </p:txBody>
      </p:sp>
      <p:sp>
        <p:nvSpPr>
          <p:cNvPr id="3" name="frame 02-panel"/>
          <p:cNvSpPr/>
          <p:nvPr/>
        </p:nvSpPr>
        <p:spPr>
          <a:xfrm>
            <a:off x="420624" y="1289304"/>
            <a:ext cx="7022592" cy="3370015"/>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2-panel" descr="panel">    </p:cNvPr>
          <p:cNvPicPr>
            <a:picLocks noChangeAspect="1"/>
          </p:cNvPicPr>
          <p:nvPr/>
        </p:nvPicPr>
        <p:blipFill>
          <a:blip r:embed="rId1"/>
          <a:stretch>
            <a:fillRect/>
          </a:stretch>
        </p:blipFill>
        <p:spPr>
          <a:xfrm>
            <a:off x="457200" y="1325880"/>
            <a:ext cx="6949440" cy="3296863"/>
          </a:xfrm>
          <a:prstGeom prst="rect">
            <a:avLst/>
          </a:prstGeom>
        </p:spPr>
      </p:pic>
      <p:sp>
        <p:nvSpPr>
          <p:cNvPr id="5" name="badge 1"/>
          <p:cNvSpPr/>
          <p:nvPr/>
        </p:nvSpPr>
        <p:spPr>
          <a:xfrm>
            <a:off x="7818120" y="1389888"/>
            <a:ext cx="329184" cy="329184"/>
          </a:xfrm>
          <a:prstGeom prst="ellipse">
            <a:avLst/>
          </a:prstGeom>
          <a:solidFill>
            <a:schemeClr val="accent1"/>
          </a:solidFill>
          <a:ln/>
        </p:spPr>
      </p:sp>
      <p:sp>
        <p:nvSpPr>
          <p:cNvPr id="6" name="badge 1 label"/>
          <p:cNvSpPr txBox="1"/>
          <p:nvPr/>
        </p:nvSpPr>
        <p:spPr>
          <a:xfrm>
            <a:off x="781812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8275320" y="1371600"/>
            <a:ext cx="3459175" cy="512064"/>
          </a:xfrm>
          <a:prstGeom prst="rect">
            <a:avLst/>
          </a:prstGeom>
          <a:noFill/>
          <a:ln/>
        </p:spPr>
        <p:txBody>
          <a:bodyPr wrap="square" lIns="0" tIns="0" rIns="0" bIns="0" rtlCol="0" anchor="t"/>
          <a:lstStyle/>
          <a:p>
            <a:pPr indent="0" marL="0">
              <a:buNone/>
            </a:pPr>
            <a:r>
              <a:rPr lang="en-US" sz="1400" b="1" dirty="0">
                <a:solidFill>
                  <a:schemeClr val="bg1"/>
                </a:solidFill>
              </a:rPr>
              <a:t>Tabs</a:t>
            </a:r>
            <a:pPr indent="0" marL="0">
              <a:buNone/>
            </a:pPr>
            <a:r>
              <a:rPr lang="en-US" sz="1400" dirty="0">
                <a:solidFill>
                  <a:schemeClr val="bg2"/>
                </a:solidFill>
              </a:rPr>
              <a:t>  Ctrl+T · Ctrl+W</a:t>
            </a:r>
            <a:endParaRPr lang="en-US" sz="1400" dirty="0"/>
          </a:p>
        </p:txBody>
      </p:sp>
      <p:sp>
        <p:nvSpPr>
          <p:cNvPr id="8" name="badge 2"/>
          <p:cNvSpPr/>
          <p:nvPr/>
        </p:nvSpPr>
        <p:spPr>
          <a:xfrm>
            <a:off x="7818120" y="1938528"/>
            <a:ext cx="329184" cy="329184"/>
          </a:xfrm>
          <a:prstGeom prst="ellipse">
            <a:avLst/>
          </a:prstGeom>
          <a:solidFill>
            <a:schemeClr val="accent1"/>
          </a:solidFill>
          <a:ln/>
        </p:spPr>
      </p:sp>
      <p:sp>
        <p:nvSpPr>
          <p:cNvPr id="9" name="badge 2 label"/>
          <p:cNvSpPr txBox="1"/>
          <p:nvPr/>
        </p:nvSpPr>
        <p:spPr>
          <a:xfrm>
            <a:off x="7818120" y="19385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8275320" y="1920240"/>
            <a:ext cx="3459175" cy="512064"/>
          </a:xfrm>
          <a:prstGeom prst="rect">
            <a:avLst/>
          </a:prstGeom>
          <a:noFill/>
          <a:ln/>
        </p:spPr>
        <p:txBody>
          <a:bodyPr wrap="square" lIns="0" tIns="0" rIns="0" bIns="0" rtlCol="0" anchor="t"/>
          <a:lstStyle/>
          <a:p>
            <a:pPr indent="0" marL="0">
              <a:buNone/>
            </a:pPr>
            <a:r>
              <a:rPr lang="en-US" sz="1400" b="1" dirty="0">
                <a:solidFill>
                  <a:schemeClr val="bg1"/>
                </a:solidFill>
              </a:rPr>
              <a:t>Split · maximize</a:t>
            </a:r>
            <a:pPr indent="0" marL="0">
              <a:buNone/>
            </a:pPr>
            <a:r>
              <a:rPr lang="en-US" sz="1400" dirty="0">
                <a:solidFill>
                  <a:schemeClr val="bg2"/>
                </a:solidFill>
              </a:rPr>
              <a:t>  Ctrl+↑</a:t>
            </a:r>
            <a:endParaRPr lang="en-US" sz="1400" dirty="0"/>
          </a:p>
        </p:txBody>
      </p:sp>
      <p:sp>
        <p:nvSpPr>
          <p:cNvPr id="11" name="badge 3"/>
          <p:cNvSpPr/>
          <p:nvPr/>
        </p:nvSpPr>
        <p:spPr>
          <a:xfrm>
            <a:off x="7818120" y="2487168"/>
            <a:ext cx="329184" cy="329184"/>
          </a:xfrm>
          <a:prstGeom prst="ellipse">
            <a:avLst/>
          </a:prstGeom>
          <a:solidFill>
            <a:schemeClr val="accent1"/>
          </a:solidFill>
          <a:ln/>
        </p:spPr>
      </p:sp>
      <p:sp>
        <p:nvSpPr>
          <p:cNvPr id="12" name="badge 3 label"/>
          <p:cNvSpPr txBox="1"/>
          <p:nvPr/>
        </p:nvSpPr>
        <p:spPr>
          <a:xfrm>
            <a:off x="7818120" y="24871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8275320" y="2468880"/>
            <a:ext cx="3459175" cy="512064"/>
          </a:xfrm>
          <a:prstGeom prst="rect">
            <a:avLst/>
          </a:prstGeom>
          <a:noFill/>
          <a:ln/>
        </p:spPr>
        <p:txBody>
          <a:bodyPr wrap="square" lIns="0" tIns="0" rIns="0" bIns="0" rtlCol="0" anchor="t"/>
          <a:lstStyle/>
          <a:p>
            <a:pPr indent="0" marL="0">
              <a:buNone/>
            </a:pPr>
            <a:r>
              <a:rPr lang="en-US" sz="1400" b="1" dirty="0">
                <a:solidFill>
                  <a:schemeClr val="bg1"/>
                </a:solidFill>
              </a:rPr>
              <a:t>Path bar</a:t>
            </a:r>
            <a:pPr indent="0" marL="0">
              <a:buNone/>
            </a:pPr>
            <a:r>
              <a:rPr lang="en-US" sz="1400" dirty="0">
                <a:solidFill>
                  <a:schemeClr val="bg2"/>
                </a:solidFill>
              </a:rPr>
              <a:t>  Ctrl+L to type</a:t>
            </a:r>
            <a:endParaRPr lang="en-US" sz="1400" dirty="0"/>
          </a:p>
        </p:txBody>
      </p:sp>
      <p:sp>
        <p:nvSpPr>
          <p:cNvPr id="14" name="badge 4"/>
          <p:cNvSpPr/>
          <p:nvPr/>
        </p:nvSpPr>
        <p:spPr>
          <a:xfrm>
            <a:off x="7818120" y="3035808"/>
            <a:ext cx="329184" cy="329184"/>
          </a:xfrm>
          <a:prstGeom prst="ellipse">
            <a:avLst/>
          </a:prstGeom>
          <a:solidFill>
            <a:schemeClr val="accent1"/>
          </a:solidFill>
          <a:ln/>
        </p:spPr>
      </p:sp>
      <p:sp>
        <p:nvSpPr>
          <p:cNvPr id="15" name="badge 4 label"/>
          <p:cNvSpPr txBox="1"/>
          <p:nvPr/>
        </p:nvSpPr>
        <p:spPr>
          <a:xfrm>
            <a:off x="7818120" y="30358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8275320" y="3017520"/>
            <a:ext cx="3459175" cy="512064"/>
          </a:xfrm>
          <a:prstGeom prst="rect">
            <a:avLst/>
          </a:prstGeom>
          <a:noFill/>
          <a:ln/>
        </p:spPr>
        <p:txBody>
          <a:bodyPr wrap="square" lIns="0" tIns="0" rIns="0" bIns="0" rtlCol="0" anchor="t"/>
          <a:lstStyle/>
          <a:p>
            <a:pPr indent="0" marL="0">
              <a:buNone/>
            </a:pPr>
            <a:r>
              <a:rPr lang="en-US" sz="1400" b="1" dirty="0">
                <a:solidFill>
                  <a:schemeClr val="bg1"/>
                </a:solidFill>
              </a:rPr>
              <a:t>Back · forward · up · refresh</a:t>
            </a:r>
            <a:pPr indent="0" marL="0">
              <a:buNone/>
            </a:pPr>
            <a:r>
              <a:rPr lang="en-US" sz="1400" dirty="0">
                <a:solidFill>
                  <a:schemeClr val="bg2"/>
                </a:solidFill>
              </a:rPr>
              <a:t>  Alt+← → ↑ · Ctrl+R</a:t>
            </a:r>
            <a:endParaRPr lang="en-US" sz="1400" dirty="0"/>
          </a:p>
        </p:txBody>
      </p:sp>
      <p:sp>
        <p:nvSpPr>
          <p:cNvPr id="17" name="badge 5"/>
          <p:cNvSpPr/>
          <p:nvPr/>
        </p:nvSpPr>
        <p:spPr>
          <a:xfrm>
            <a:off x="7818120" y="3584448"/>
            <a:ext cx="329184" cy="329184"/>
          </a:xfrm>
          <a:prstGeom prst="ellipse">
            <a:avLst/>
          </a:prstGeom>
          <a:solidFill>
            <a:schemeClr val="accent1"/>
          </a:solidFill>
          <a:ln/>
        </p:spPr>
      </p:sp>
      <p:sp>
        <p:nvSpPr>
          <p:cNvPr id="18" name="badge 5 label"/>
          <p:cNvSpPr txBox="1"/>
          <p:nvPr/>
        </p:nvSpPr>
        <p:spPr>
          <a:xfrm>
            <a:off x="7818120" y="35844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9" name="legend 5"/>
          <p:cNvSpPr txBox="1"/>
          <p:nvPr/>
        </p:nvSpPr>
        <p:spPr>
          <a:xfrm>
            <a:off x="8275320" y="3566160"/>
            <a:ext cx="3459175" cy="512064"/>
          </a:xfrm>
          <a:prstGeom prst="rect">
            <a:avLst/>
          </a:prstGeom>
          <a:noFill/>
          <a:ln/>
        </p:spPr>
        <p:txBody>
          <a:bodyPr wrap="square" lIns="0" tIns="0" rIns="0" bIns="0" rtlCol="0" anchor="t"/>
          <a:lstStyle/>
          <a:p>
            <a:pPr indent="0" marL="0">
              <a:buNone/>
            </a:pPr>
            <a:r>
              <a:rPr lang="en-US" sz="1400" b="1" dirty="0">
                <a:solidFill>
                  <a:schemeClr val="bg1"/>
                </a:solidFill>
              </a:rPr>
              <a:t>New file · folder · upload</a:t>
            </a:r>
            <a:pPr indent="0" marL="0">
              <a:buNone/>
            </a:pPr>
            <a:r>
              <a:rPr lang="en-US" sz="1400" dirty="0">
                <a:solidFill>
                  <a:schemeClr val="bg2"/>
                </a:solidFill>
              </a:rPr>
              <a:t>  F7</a:t>
            </a:r>
            <a:endParaRPr lang="en-US" sz="1400" dirty="0"/>
          </a:p>
        </p:txBody>
      </p:sp>
      <p:sp>
        <p:nvSpPr>
          <p:cNvPr id="20" name="badge 6"/>
          <p:cNvSpPr/>
          <p:nvPr/>
        </p:nvSpPr>
        <p:spPr>
          <a:xfrm>
            <a:off x="7818120" y="4133088"/>
            <a:ext cx="329184" cy="329184"/>
          </a:xfrm>
          <a:prstGeom prst="ellipse">
            <a:avLst/>
          </a:prstGeom>
          <a:solidFill>
            <a:schemeClr val="accent1"/>
          </a:solidFill>
          <a:ln/>
        </p:spPr>
      </p:sp>
      <p:sp>
        <p:nvSpPr>
          <p:cNvPr id="21" name="badge 6 label"/>
          <p:cNvSpPr txBox="1"/>
          <p:nvPr/>
        </p:nvSpPr>
        <p:spPr>
          <a:xfrm>
            <a:off x="7818120" y="41330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2" name="legend 6"/>
          <p:cNvSpPr txBox="1"/>
          <p:nvPr/>
        </p:nvSpPr>
        <p:spPr>
          <a:xfrm>
            <a:off x="8275320" y="4114800"/>
            <a:ext cx="3459175" cy="512064"/>
          </a:xfrm>
          <a:prstGeom prst="rect">
            <a:avLst/>
          </a:prstGeom>
          <a:noFill/>
          <a:ln/>
        </p:spPr>
        <p:txBody>
          <a:bodyPr wrap="square" lIns="0" tIns="0" rIns="0" bIns="0" rtlCol="0" anchor="t"/>
          <a:lstStyle/>
          <a:p>
            <a:pPr indent="0" marL="0">
              <a:buNone/>
            </a:pPr>
            <a:r>
              <a:rPr lang="en-US" sz="1400" b="1" dirty="0">
                <a:solidFill>
                  <a:schemeClr val="bg1"/>
                </a:solidFill>
              </a:rPr>
              <a:t>List · grid · tree</a:t>
            </a:r>
            <a:pPr indent="0" marL="0">
              <a:buNone/>
            </a:pPr>
            <a:r>
              <a:rPr lang="en-US" sz="1400" dirty="0">
                <a:solidFill>
                  <a:schemeClr val="bg2"/>
                </a:solidFill>
              </a:rPr>
              <a:t>  per folder</a:t>
            </a:r>
            <a:endParaRPr lang="en-US" sz="1400" dirty="0"/>
          </a:p>
        </p:txBody>
      </p:sp>
      <p:sp>
        <p:nvSpPr>
          <p:cNvPr id="23" name="badge 7"/>
          <p:cNvSpPr/>
          <p:nvPr/>
        </p:nvSpPr>
        <p:spPr>
          <a:xfrm>
            <a:off x="7818120" y="4681728"/>
            <a:ext cx="329184" cy="329184"/>
          </a:xfrm>
          <a:prstGeom prst="ellipse">
            <a:avLst/>
          </a:prstGeom>
          <a:solidFill>
            <a:schemeClr val="accent1"/>
          </a:solidFill>
          <a:ln/>
        </p:spPr>
      </p:sp>
      <p:sp>
        <p:nvSpPr>
          <p:cNvPr id="24" name="badge 7 label"/>
          <p:cNvSpPr txBox="1"/>
          <p:nvPr/>
        </p:nvSpPr>
        <p:spPr>
          <a:xfrm>
            <a:off x="7818120" y="46817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25" name="legend 7"/>
          <p:cNvSpPr txBox="1"/>
          <p:nvPr/>
        </p:nvSpPr>
        <p:spPr>
          <a:xfrm>
            <a:off x="8275320" y="4663440"/>
            <a:ext cx="3459175" cy="512064"/>
          </a:xfrm>
          <a:prstGeom prst="rect">
            <a:avLst/>
          </a:prstGeom>
          <a:noFill/>
          <a:ln/>
        </p:spPr>
        <p:txBody>
          <a:bodyPr wrap="square" lIns="0" tIns="0" rIns="0" bIns="0" rtlCol="0" anchor="t"/>
          <a:lstStyle/>
          <a:p>
            <a:pPr indent="0" marL="0">
              <a:buNone/>
            </a:pPr>
            <a:r>
              <a:rPr lang="en-US" sz="1400" b="1" dirty="0">
                <a:solidFill>
                  <a:schemeClr val="bg1"/>
                </a:solidFill>
              </a:rPr>
              <a:t>Filter</a:t>
            </a:r>
            <a:pPr indent="0" marL="0">
              <a:buNone/>
            </a:pPr>
            <a:r>
              <a:rPr lang="en-US" sz="1400" dirty="0">
                <a:solidFill>
                  <a:schemeClr val="bg2"/>
                </a:solidFill>
              </a:rPr>
              <a:t>  Ctrl+F</a:t>
            </a:r>
            <a:endParaRPr lang="en-US" sz="1400" dirty="0"/>
          </a:p>
        </p:txBody>
      </p:sp>
      <p:sp>
        <p:nvSpPr>
          <p:cNvPr id="26" name="badge 8"/>
          <p:cNvSpPr/>
          <p:nvPr/>
        </p:nvSpPr>
        <p:spPr>
          <a:xfrm>
            <a:off x="7818120" y="5230368"/>
            <a:ext cx="329184" cy="329184"/>
          </a:xfrm>
          <a:prstGeom prst="ellipse">
            <a:avLst/>
          </a:prstGeom>
          <a:solidFill>
            <a:schemeClr val="accent1"/>
          </a:solidFill>
          <a:ln/>
        </p:spPr>
      </p:sp>
      <p:sp>
        <p:nvSpPr>
          <p:cNvPr id="27" name="badge 8 label"/>
          <p:cNvSpPr txBox="1"/>
          <p:nvPr/>
        </p:nvSpPr>
        <p:spPr>
          <a:xfrm>
            <a:off x="7818120" y="52303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28" name="legend 8"/>
          <p:cNvSpPr txBox="1"/>
          <p:nvPr/>
        </p:nvSpPr>
        <p:spPr>
          <a:xfrm>
            <a:off x="8275320" y="5212080"/>
            <a:ext cx="3459175" cy="512064"/>
          </a:xfrm>
          <a:prstGeom prst="rect">
            <a:avLst/>
          </a:prstGeom>
          <a:noFill/>
          <a:ln/>
        </p:spPr>
        <p:txBody>
          <a:bodyPr wrap="square" lIns="0" tIns="0" rIns="0" bIns="0" rtlCol="0" anchor="t"/>
          <a:lstStyle/>
          <a:p>
            <a:pPr indent="0" marL="0">
              <a:buNone/>
            </a:pPr>
            <a:r>
              <a:rPr lang="en-US" sz="1400" b="1" dirty="0">
                <a:solidFill>
                  <a:schemeClr val="bg1"/>
                </a:solidFill>
              </a:rPr>
              <a:t>Sort</a:t>
            </a:r>
            <a:pPr indent="0" marL="0">
              <a:buNone/>
            </a:pPr>
            <a:r>
              <a:rPr lang="en-US" sz="1400" dirty="0">
                <a:solidFill>
                  <a:schemeClr val="bg2"/>
                </a:solidFill>
              </a:rPr>
              <a:t>  click a column</a:t>
            </a:r>
            <a:endParaRPr lang="en-US" sz="1400" dirty="0"/>
          </a:p>
        </p:txBody>
      </p:sp>
      <p:sp>
        <p:nvSpPr>
          <p:cNvPr id="29" name="key Ctrl+L"/>
          <p:cNvSpPr/>
          <p:nvPr/>
        </p:nvSpPr>
        <p:spPr>
          <a:xfrm>
            <a:off x="457200" y="5079943"/>
            <a:ext cx="1371600" cy="548640"/>
          </a:xfrm>
          <a:prstGeom prst="roundRect">
            <a:avLst>
              <a:gd name="adj" fmla="val 13333"/>
            </a:avLst>
          </a:prstGeom>
          <a:solidFill>
            <a:schemeClr val="accent3"/>
          </a:solidFill>
          <a:ln w="15875">
            <a:solidFill>
              <a:schemeClr val="accent4"/>
            </a:solidFill>
            <a:prstDash val="solid"/>
          </a:ln>
        </p:spPr>
      </p:sp>
      <p:sp>
        <p:nvSpPr>
          <p:cNvPr id="30" name="key Ctrl+L label"/>
          <p:cNvSpPr txBox="1"/>
          <p:nvPr/>
        </p:nvSpPr>
        <p:spPr>
          <a:xfrm>
            <a:off x="457200" y="5079943"/>
            <a:ext cx="1371600" cy="548640"/>
          </a:xfrm>
          <a:prstGeom prst="rect">
            <a:avLst/>
          </a:prstGeom>
          <a:noFill/>
          <a:ln/>
        </p:spPr>
        <p:txBody>
          <a:bodyPr wrap="square" lIns="0" tIns="0" rIns="0" bIns="0" rtlCol="0" anchor="ctr"/>
          <a:lstStyle/>
          <a:p>
            <a:pPr algn="ctr" indent="0" marL="0">
              <a:buNone/>
            </a:pPr>
            <a:r>
              <a:rPr lang="en-US" sz="1800" b="1" dirty="0">
                <a:solidFill>
                  <a:schemeClr val="bg1"/>
                </a:solidFill>
              </a:rPr>
              <a:t>Ctrl+L</a:t>
            </a:r>
            <a:endParaRPr lang="en-US" sz="1800" dirty="0"/>
          </a:p>
        </p:txBody>
      </p:sp>
      <p:sp>
        <p:nvSpPr>
          <p:cNvPr id="31" name="Text 28"/>
          <p:cNvSpPr txBox="1"/>
          <p:nvPr/>
        </p:nvSpPr>
        <p:spPr>
          <a:xfrm>
            <a:off x="2103120" y="5034223"/>
            <a:ext cx="5303520" cy="914400"/>
          </a:xfrm>
          <a:prstGeom prst="rect">
            <a:avLst/>
          </a:prstGeom>
          <a:noFill/>
          <a:ln/>
        </p:spPr>
        <p:txBody>
          <a:bodyPr wrap="square" lIns="0" tIns="0" rIns="0" bIns="0" rtlCol="0" anchor="t"/>
          <a:lstStyle/>
          <a:p>
            <a:pPr indent="0" marL="0">
              <a:buNone/>
            </a:pPr>
            <a:r>
              <a:rPr lang="en-US" sz="1500" b="1" dirty="0">
                <a:solidFill>
                  <a:schemeClr val="bg1"/>
                </a:solidFill>
              </a:rPr>
              <a:t>The path bar suggests as you type</a:t>
            </a:r>
            <a:endParaRPr lang="en-US" sz="1500" dirty="0"/>
          </a:p>
          <a:p>
            <a:pPr indent="0" marL="0">
              <a:buNone/>
            </a:pPr>
            <a:r>
              <a:rPr lang="en-US" sz="1500" dirty="0">
                <a:solidFill>
                  <a:schemeClr val="bg2"/>
                </a:solidFill>
              </a:rPr>
              <a:t>↓ ↑ choose · Tab completes · Enter goes. A file’s path opens its folder with the file selected.</a:t>
            </a:r>
            <a:endParaRPr lang="en-US" sz="15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Select, then copy or move</a:t>
            </a:r>
            <a:endParaRPr lang="en-US" sz="3600" dirty="0"/>
          </a:p>
        </p:txBody>
      </p:sp>
      <p:sp>
        <p:nvSpPr>
          <p:cNvPr id="3" name="frame 03-selection"/>
          <p:cNvSpPr/>
          <p:nvPr/>
        </p:nvSpPr>
        <p:spPr>
          <a:xfrm>
            <a:off x="420624" y="1289304"/>
            <a:ext cx="7662672" cy="460578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3-selection" descr="selection">    </p:cNvPr>
          <p:cNvPicPr>
            <a:picLocks noChangeAspect="1"/>
          </p:cNvPicPr>
          <p:nvPr/>
        </p:nvPicPr>
        <p:blipFill>
          <a:blip r:embed="rId1"/>
          <a:stretch>
            <a:fillRect/>
          </a:stretch>
        </p:blipFill>
        <p:spPr>
          <a:xfrm>
            <a:off x="457200" y="1325880"/>
            <a:ext cx="7589520" cy="4532630"/>
          </a:xfrm>
          <a:prstGeom prst="rect">
            <a:avLst/>
          </a:prstGeom>
        </p:spPr>
      </p:pic>
      <p:sp>
        <p:nvSpPr>
          <p:cNvPr id="5" name="Text 2"/>
          <p:cNvSpPr txBox="1"/>
          <p:nvPr/>
        </p:nvSpPr>
        <p:spPr>
          <a:xfrm>
            <a:off x="8458200" y="1325880"/>
            <a:ext cx="3276295" cy="365760"/>
          </a:xfrm>
          <a:prstGeom prst="rect">
            <a:avLst/>
          </a:prstGeom>
          <a:noFill/>
          <a:ln/>
        </p:spPr>
        <p:txBody>
          <a:bodyPr wrap="square" lIns="0" tIns="0" rIns="0" bIns="0" rtlCol="0" anchor="ctr"/>
          <a:lstStyle/>
          <a:p>
            <a:pPr indent="0" marL="0">
              <a:buNone/>
            </a:pPr>
            <a:r>
              <a:rPr lang="en-US" sz="1800" b="1" dirty="0">
                <a:solidFill>
                  <a:schemeClr val="bg1"/>
                </a:solidFill>
              </a:rPr>
              <a:t>Select</a:t>
            </a:r>
            <a:endParaRPr lang="en-US" sz="1800" dirty="0"/>
          </a:p>
        </p:txBody>
      </p:sp>
      <p:sp>
        <p:nvSpPr>
          <p:cNvPr id="6" name="key Ins"/>
          <p:cNvSpPr/>
          <p:nvPr/>
        </p:nvSpPr>
        <p:spPr>
          <a:xfrm>
            <a:off x="8458200" y="1783080"/>
            <a:ext cx="731520" cy="420624"/>
          </a:xfrm>
          <a:prstGeom prst="roundRect">
            <a:avLst>
              <a:gd name="adj" fmla="val 17391"/>
            </a:avLst>
          </a:prstGeom>
          <a:solidFill>
            <a:schemeClr val="accent3"/>
          </a:solidFill>
          <a:ln w="15875">
            <a:solidFill>
              <a:schemeClr val="accent4"/>
            </a:solidFill>
            <a:prstDash val="solid"/>
          </a:ln>
        </p:spPr>
      </p:sp>
      <p:sp>
        <p:nvSpPr>
          <p:cNvPr id="7" name="key Ins label"/>
          <p:cNvSpPr txBox="1"/>
          <p:nvPr/>
        </p:nvSpPr>
        <p:spPr>
          <a:xfrm>
            <a:off x="8458200" y="1783080"/>
            <a:ext cx="731520" cy="420624"/>
          </a:xfrm>
          <a:prstGeom prst="rect">
            <a:avLst/>
          </a:prstGeom>
          <a:noFill/>
          <a:ln/>
        </p:spPr>
        <p:txBody>
          <a:bodyPr wrap="square" lIns="0" tIns="0" rIns="0" bIns="0" rtlCol="0" anchor="ctr"/>
          <a:lstStyle/>
          <a:p>
            <a:pPr algn="ctr" indent="0" marL="0">
              <a:buNone/>
            </a:pPr>
            <a:r>
              <a:rPr lang="en-US" sz="1500" b="1" dirty="0">
                <a:solidFill>
                  <a:schemeClr val="bg1"/>
                </a:solidFill>
              </a:rPr>
              <a:t>Ins</a:t>
            </a:r>
            <a:endParaRPr lang="en-US" sz="1500" dirty="0"/>
          </a:p>
        </p:txBody>
      </p:sp>
      <p:sp>
        <p:nvSpPr>
          <p:cNvPr id="8" name="Text 5"/>
          <p:cNvSpPr txBox="1"/>
          <p:nvPr/>
        </p:nvSpPr>
        <p:spPr>
          <a:xfrm>
            <a:off x="9326880" y="1828800"/>
            <a:ext cx="2407615" cy="320040"/>
          </a:xfrm>
          <a:prstGeom prst="rect">
            <a:avLst/>
          </a:prstGeom>
          <a:noFill/>
          <a:ln/>
        </p:spPr>
        <p:txBody>
          <a:bodyPr wrap="square" lIns="0" tIns="0" rIns="0" bIns="0" rtlCol="0" anchor="ctr"/>
          <a:lstStyle/>
          <a:p>
            <a:pPr indent="0" marL="0">
              <a:buNone/>
            </a:pPr>
            <a:r>
              <a:rPr lang="en-US" sz="1400" dirty="0">
                <a:solidFill>
                  <a:schemeClr val="bg2"/>
                </a:solidFill>
              </a:rPr>
              <a:t>mark</a:t>
            </a:r>
            <a:endParaRPr lang="en-US" sz="1400" dirty="0"/>
          </a:p>
        </p:txBody>
      </p:sp>
      <p:sp>
        <p:nvSpPr>
          <p:cNvPr id="9" name="key *"/>
          <p:cNvSpPr/>
          <p:nvPr/>
        </p:nvSpPr>
        <p:spPr>
          <a:xfrm>
            <a:off x="8458200" y="2331720"/>
            <a:ext cx="731520" cy="420624"/>
          </a:xfrm>
          <a:prstGeom prst="roundRect">
            <a:avLst>
              <a:gd name="adj" fmla="val 17391"/>
            </a:avLst>
          </a:prstGeom>
          <a:solidFill>
            <a:schemeClr val="accent3"/>
          </a:solidFill>
          <a:ln w="15875">
            <a:solidFill>
              <a:schemeClr val="accent4"/>
            </a:solidFill>
            <a:prstDash val="solid"/>
          </a:ln>
        </p:spPr>
      </p:sp>
      <p:sp>
        <p:nvSpPr>
          <p:cNvPr id="10" name="key * label"/>
          <p:cNvSpPr txBox="1"/>
          <p:nvPr/>
        </p:nvSpPr>
        <p:spPr>
          <a:xfrm>
            <a:off x="8458200" y="2331720"/>
            <a:ext cx="731520" cy="420624"/>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1" name="Text 8"/>
          <p:cNvSpPr txBox="1"/>
          <p:nvPr/>
        </p:nvSpPr>
        <p:spPr>
          <a:xfrm>
            <a:off x="9326880" y="2377440"/>
            <a:ext cx="2407615" cy="320040"/>
          </a:xfrm>
          <a:prstGeom prst="rect">
            <a:avLst/>
          </a:prstGeom>
          <a:noFill/>
          <a:ln/>
        </p:spPr>
        <p:txBody>
          <a:bodyPr wrap="square" lIns="0" tIns="0" rIns="0" bIns="0" rtlCol="0" anchor="ctr"/>
          <a:lstStyle/>
          <a:p>
            <a:pPr indent="0" marL="0">
              <a:buNone/>
            </a:pPr>
            <a:r>
              <a:rPr lang="en-US" sz="1400" dirty="0">
                <a:solidFill>
                  <a:schemeClr val="bg2"/>
                </a:solidFill>
              </a:rPr>
              <a:t>all / none</a:t>
            </a:r>
            <a:endParaRPr lang="en-US" sz="1400" dirty="0"/>
          </a:p>
        </p:txBody>
      </p:sp>
      <p:sp>
        <p:nvSpPr>
          <p:cNvPr id="12" name="key +"/>
          <p:cNvSpPr/>
          <p:nvPr/>
        </p:nvSpPr>
        <p:spPr>
          <a:xfrm>
            <a:off x="8458200" y="2880360"/>
            <a:ext cx="731520" cy="420624"/>
          </a:xfrm>
          <a:prstGeom prst="roundRect">
            <a:avLst>
              <a:gd name="adj" fmla="val 17391"/>
            </a:avLst>
          </a:prstGeom>
          <a:solidFill>
            <a:schemeClr val="accent3"/>
          </a:solidFill>
          <a:ln w="15875">
            <a:solidFill>
              <a:schemeClr val="accent4"/>
            </a:solidFill>
            <a:prstDash val="solid"/>
          </a:ln>
        </p:spPr>
      </p:sp>
      <p:sp>
        <p:nvSpPr>
          <p:cNvPr id="13" name="key + label"/>
          <p:cNvSpPr txBox="1"/>
          <p:nvPr/>
        </p:nvSpPr>
        <p:spPr>
          <a:xfrm>
            <a:off x="8458200" y="2880360"/>
            <a:ext cx="731520" cy="420624"/>
          </a:xfrm>
          <a:prstGeom prst="rect">
            <a:avLst/>
          </a:prstGeom>
          <a:noFill/>
          <a:ln/>
        </p:spPr>
        <p:txBody>
          <a:bodyPr wrap="square" lIns="0" tIns="0" rIns="0" bIns="0" rtlCol="0" anchor="ctr"/>
          <a:lstStyle/>
          <a:p>
            <a:pPr algn="ctr" indent="0" marL="0">
              <a:buNone/>
            </a:pPr>
            <a:r>
              <a:rPr lang="en-US" sz="1500" b="1" dirty="0">
                <a:solidFill>
                  <a:schemeClr val="bg1"/>
                </a:solidFill>
              </a:rPr>
              <a:t>+</a:t>
            </a:r>
            <a:endParaRPr lang="en-US" sz="1500" dirty="0"/>
          </a:p>
        </p:txBody>
      </p:sp>
      <p:sp>
        <p:nvSpPr>
          <p:cNvPr id="14" name="Text 11"/>
          <p:cNvSpPr txBox="1"/>
          <p:nvPr/>
        </p:nvSpPr>
        <p:spPr>
          <a:xfrm>
            <a:off x="9326880" y="2926080"/>
            <a:ext cx="2407615" cy="320040"/>
          </a:xfrm>
          <a:prstGeom prst="rect">
            <a:avLst/>
          </a:prstGeom>
          <a:noFill/>
          <a:ln/>
        </p:spPr>
        <p:txBody>
          <a:bodyPr wrap="square" lIns="0" tIns="0" rIns="0" bIns="0" rtlCol="0" anchor="ctr"/>
          <a:lstStyle/>
          <a:p>
            <a:pPr indent="0" marL="0">
              <a:buNone/>
            </a:pPr>
            <a:r>
              <a:rPr lang="en-US" sz="1400" dirty="0">
                <a:solidFill>
                  <a:schemeClr val="bg2"/>
                </a:solidFill>
              </a:rPr>
              <a:t>by pattern</a:t>
            </a:r>
            <a:endParaRPr lang="en-US" sz="1400" dirty="0"/>
          </a:p>
        </p:txBody>
      </p:sp>
      <p:sp>
        <p:nvSpPr>
          <p:cNvPr id="15" name="Text 12"/>
          <p:cNvSpPr txBox="1"/>
          <p:nvPr/>
        </p:nvSpPr>
        <p:spPr>
          <a:xfrm>
            <a:off x="8458200" y="3566160"/>
            <a:ext cx="3276295" cy="365760"/>
          </a:xfrm>
          <a:prstGeom prst="rect">
            <a:avLst/>
          </a:prstGeom>
          <a:noFill/>
          <a:ln/>
        </p:spPr>
        <p:txBody>
          <a:bodyPr wrap="square" lIns="0" tIns="0" rIns="0" bIns="0" rtlCol="0" anchor="ctr"/>
          <a:lstStyle/>
          <a:p>
            <a:pPr indent="0" marL="0">
              <a:buNone/>
            </a:pPr>
            <a:r>
              <a:rPr lang="en-US" sz="1800" b="1" dirty="0">
                <a:solidFill>
                  <a:schemeClr val="bg1"/>
                </a:solidFill>
              </a:rPr>
              <a:t>Act on the selection</a:t>
            </a:r>
            <a:endParaRPr lang="en-US" sz="1800" dirty="0"/>
          </a:p>
        </p:txBody>
      </p:sp>
      <p:sp>
        <p:nvSpPr>
          <p:cNvPr id="16" name="key F5"/>
          <p:cNvSpPr/>
          <p:nvPr/>
        </p:nvSpPr>
        <p:spPr>
          <a:xfrm>
            <a:off x="8458200" y="4023360"/>
            <a:ext cx="1024128" cy="457200"/>
          </a:xfrm>
          <a:prstGeom prst="roundRect">
            <a:avLst>
              <a:gd name="adj" fmla="val 16000"/>
            </a:avLst>
          </a:prstGeom>
          <a:solidFill>
            <a:schemeClr val="accent3"/>
          </a:solidFill>
          <a:ln w="15875">
            <a:solidFill>
              <a:schemeClr val="accent4"/>
            </a:solidFill>
            <a:prstDash val="solid"/>
          </a:ln>
        </p:spPr>
      </p:sp>
      <p:sp>
        <p:nvSpPr>
          <p:cNvPr id="17" name="key F5 label"/>
          <p:cNvSpPr txBox="1"/>
          <p:nvPr/>
        </p:nvSpPr>
        <p:spPr>
          <a:xfrm>
            <a:off x="8458200" y="4023360"/>
            <a:ext cx="1024128" cy="457200"/>
          </a:xfrm>
          <a:prstGeom prst="rect">
            <a:avLst/>
          </a:prstGeom>
          <a:noFill/>
          <a:ln/>
        </p:spPr>
        <p:txBody>
          <a:bodyPr wrap="square" lIns="0" tIns="0" rIns="0" bIns="0" rtlCol="0" anchor="ctr"/>
          <a:lstStyle/>
          <a:p>
            <a:pPr algn="ctr" indent="0" marL="0">
              <a:buNone/>
            </a:pPr>
            <a:r>
              <a:rPr lang="en-US" sz="1600" b="1" dirty="0">
                <a:solidFill>
                  <a:schemeClr val="bg1"/>
                </a:solidFill>
              </a:rPr>
              <a:t>F5</a:t>
            </a:r>
            <a:endParaRPr lang="en-US" sz="1600" dirty="0"/>
          </a:p>
        </p:txBody>
      </p:sp>
      <p:sp>
        <p:nvSpPr>
          <p:cNvPr id="18" name="Text 15"/>
          <p:cNvSpPr txBox="1"/>
          <p:nvPr/>
        </p:nvSpPr>
        <p:spPr>
          <a:xfrm>
            <a:off x="8458200" y="4526280"/>
            <a:ext cx="1024128" cy="320040"/>
          </a:xfrm>
          <a:prstGeom prst="rect">
            <a:avLst/>
          </a:prstGeom>
          <a:noFill/>
          <a:ln/>
        </p:spPr>
        <p:txBody>
          <a:bodyPr wrap="square" lIns="0" tIns="0" rIns="0" bIns="0" rtlCol="0" anchor="ctr"/>
          <a:lstStyle/>
          <a:p>
            <a:pPr algn="ctr" indent="0" marL="0">
              <a:buNone/>
            </a:pPr>
            <a:r>
              <a:rPr lang="en-US" sz="1300" dirty="0">
                <a:solidFill>
                  <a:schemeClr val="bg2"/>
                </a:solidFill>
              </a:rPr>
              <a:t>copy</a:t>
            </a:r>
            <a:endParaRPr lang="en-US" sz="1300" dirty="0"/>
          </a:p>
        </p:txBody>
      </p:sp>
      <p:sp>
        <p:nvSpPr>
          <p:cNvPr id="19" name="key F6"/>
          <p:cNvSpPr/>
          <p:nvPr/>
        </p:nvSpPr>
        <p:spPr>
          <a:xfrm>
            <a:off x="9619488" y="4023360"/>
            <a:ext cx="1024128" cy="457200"/>
          </a:xfrm>
          <a:prstGeom prst="roundRect">
            <a:avLst>
              <a:gd name="adj" fmla="val 16000"/>
            </a:avLst>
          </a:prstGeom>
          <a:solidFill>
            <a:schemeClr val="accent3"/>
          </a:solidFill>
          <a:ln w="15875">
            <a:solidFill>
              <a:schemeClr val="accent4"/>
            </a:solidFill>
            <a:prstDash val="solid"/>
          </a:ln>
        </p:spPr>
      </p:sp>
      <p:sp>
        <p:nvSpPr>
          <p:cNvPr id="20" name="key F6 label"/>
          <p:cNvSpPr txBox="1"/>
          <p:nvPr/>
        </p:nvSpPr>
        <p:spPr>
          <a:xfrm>
            <a:off x="9619488" y="4023360"/>
            <a:ext cx="1024128" cy="457200"/>
          </a:xfrm>
          <a:prstGeom prst="rect">
            <a:avLst/>
          </a:prstGeom>
          <a:noFill/>
          <a:ln/>
        </p:spPr>
        <p:txBody>
          <a:bodyPr wrap="square" lIns="0" tIns="0" rIns="0" bIns="0" rtlCol="0" anchor="ctr"/>
          <a:lstStyle/>
          <a:p>
            <a:pPr algn="ctr" indent="0" marL="0">
              <a:buNone/>
            </a:pPr>
            <a:r>
              <a:rPr lang="en-US" sz="1600" b="1" dirty="0">
                <a:solidFill>
                  <a:schemeClr val="bg1"/>
                </a:solidFill>
              </a:rPr>
              <a:t>F6</a:t>
            </a:r>
            <a:endParaRPr lang="en-US" sz="1600" dirty="0"/>
          </a:p>
        </p:txBody>
      </p:sp>
      <p:sp>
        <p:nvSpPr>
          <p:cNvPr id="21" name="Text 18"/>
          <p:cNvSpPr txBox="1"/>
          <p:nvPr/>
        </p:nvSpPr>
        <p:spPr>
          <a:xfrm>
            <a:off x="9619488" y="4526280"/>
            <a:ext cx="1024128" cy="320040"/>
          </a:xfrm>
          <a:prstGeom prst="rect">
            <a:avLst/>
          </a:prstGeom>
          <a:noFill/>
          <a:ln/>
        </p:spPr>
        <p:txBody>
          <a:bodyPr wrap="square" lIns="0" tIns="0" rIns="0" bIns="0" rtlCol="0" anchor="ctr"/>
          <a:lstStyle/>
          <a:p>
            <a:pPr algn="ctr" indent="0" marL="0">
              <a:buNone/>
            </a:pPr>
            <a:r>
              <a:rPr lang="en-US" sz="1300" dirty="0">
                <a:solidFill>
                  <a:schemeClr val="bg2"/>
                </a:solidFill>
              </a:rPr>
              <a:t>move</a:t>
            </a:r>
            <a:endParaRPr lang="en-US" sz="1300" dirty="0"/>
          </a:p>
        </p:txBody>
      </p:sp>
      <p:sp>
        <p:nvSpPr>
          <p:cNvPr id="22" name="key F8"/>
          <p:cNvSpPr/>
          <p:nvPr/>
        </p:nvSpPr>
        <p:spPr>
          <a:xfrm>
            <a:off x="10780776" y="4023360"/>
            <a:ext cx="1024128" cy="457200"/>
          </a:xfrm>
          <a:prstGeom prst="roundRect">
            <a:avLst>
              <a:gd name="adj" fmla="val 16000"/>
            </a:avLst>
          </a:prstGeom>
          <a:solidFill>
            <a:schemeClr val="accent3"/>
          </a:solidFill>
          <a:ln w="15875">
            <a:solidFill>
              <a:schemeClr val="accent4"/>
            </a:solidFill>
            <a:prstDash val="solid"/>
          </a:ln>
        </p:spPr>
      </p:sp>
      <p:sp>
        <p:nvSpPr>
          <p:cNvPr id="23" name="key F8 label"/>
          <p:cNvSpPr txBox="1"/>
          <p:nvPr/>
        </p:nvSpPr>
        <p:spPr>
          <a:xfrm>
            <a:off x="10780776" y="4023360"/>
            <a:ext cx="1024128" cy="457200"/>
          </a:xfrm>
          <a:prstGeom prst="rect">
            <a:avLst/>
          </a:prstGeom>
          <a:noFill/>
          <a:ln/>
        </p:spPr>
        <p:txBody>
          <a:bodyPr wrap="square" lIns="0" tIns="0" rIns="0" bIns="0" rtlCol="0" anchor="ctr"/>
          <a:lstStyle/>
          <a:p>
            <a:pPr algn="ctr" indent="0" marL="0">
              <a:buNone/>
            </a:pPr>
            <a:r>
              <a:rPr lang="en-US" sz="1600" b="1" dirty="0">
                <a:solidFill>
                  <a:schemeClr val="bg1"/>
                </a:solidFill>
              </a:rPr>
              <a:t>F8</a:t>
            </a:r>
            <a:endParaRPr lang="en-US" sz="1600" dirty="0"/>
          </a:p>
        </p:txBody>
      </p:sp>
      <p:sp>
        <p:nvSpPr>
          <p:cNvPr id="24" name="Text 21"/>
          <p:cNvSpPr txBox="1"/>
          <p:nvPr/>
        </p:nvSpPr>
        <p:spPr>
          <a:xfrm>
            <a:off x="10780776" y="4526280"/>
            <a:ext cx="1024128" cy="320040"/>
          </a:xfrm>
          <a:prstGeom prst="rect">
            <a:avLst/>
          </a:prstGeom>
          <a:noFill/>
          <a:ln/>
        </p:spPr>
        <p:txBody>
          <a:bodyPr wrap="square" lIns="0" tIns="0" rIns="0" bIns="0" rtlCol="0" anchor="ctr"/>
          <a:lstStyle/>
          <a:p>
            <a:pPr algn="ctr" indent="0" marL="0">
              <a:buNone/>
            </a:pPr>
            <a:r>
              <a:rPr lang="en-US" sz="1300" dirty="0">
                <a:solidFill>
                  <a:schemeClr val="bg2"/>
                </a:solidFill>
              </a:rPr>
              <a:t>delete</a:t>
            </a:r>
            <a:endParaRPr lang="en-US" sz="1300" dirty="0"/>
          </a:p>
        </p:txBody>
      </p:sp>
      <p:sp>
        <p:nvSpPr>
          <p:cNvPr id="25" name="frame 04-copy-dialog"/>
          <p:cNvSpPr/>
          <p:nvPr/>
        </p:nvSpPr>
        <p:spPr>
          <a:xfrm>
            <a:off x="8421624" y="4946904"/>
            <a:ext cx="2816352" cy="144475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26" name="shot 04-copy-dialog" descr="copy dialog">    </p:cNvPr>
          <p:cNvPicPr>
            <a:picLocks noChangeAspect="1"/>
          </p:cNvPicPr>
          <p:nvPr/>
        </p:nvPicPr>
        <p:blipFill>
          <a:blip r:embed="rId2"/>
          <a:stretch>
            <a:fillRect/>
          </a:stretch>
        </p:blipFill>
        <p:spPr>
          <a:xfrm>
            <a:off x="8458200" y="4983480"/>
            <a:ext cx="2743200" cy="1371600"/>
          </a:xfrm>
          <a:prstGeom prst="rect">
            <a:avLst/>
          </a:prstGeom>
        </p:spPr>
      </p:pic>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Right-click for everything</a:t>
            </a:r>
            <a:endParaRPr lang="en-US" sz="3600" dirty="0"/>
          </a:p>
        </p:txBody>
      </p:sp>
      <p:sp>
        <p:nvSpPr>
          <p:cNvPr id="3" name="frame 11-context-menu"/>
          <p:cNvSpPr/>
          <p:nvPr/>
        </p:nvSpPr>
        <p:spPr>
          <a:xfrm>
            <a:off x="6028639" y="1289304"/>
            <a:ext cx="5742432" cy="5090214"/>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1-context-menu" descr="context menu">    </p:cNvPr>
          <p:cNvPicPr>
            <a:picLocks noChangeAspect="1"/>
          </p:cNvPicPr>
          <p:nvPr/>
        </p:nvPicPr>
        <p:blipFill>
          <a:blip r:embed="rId1"/>
          <a:stretch>
            <a:fillRect/>
          </a:stretch>
        </p:blipFill>
        <p:spPr>
          <a:xfrm>
            <a:off x="6065215" y="1325880"/>
            <a:ext cx="5669280" cy="5017062"/>
          </a:xfrm>
          <a:prstGeom prst="rect">
            <a:avLst/>
          </a:prstGeom>
        </p:spPr>
      </p:pic>
      <p:sp>
        <p:nvSpPr>
          <p:cNvPr id="5" name="row Copy Path circle"/>
          <p:cNvSpPr/>
          <p:nvPr/>
        </p:nvSpPr>
        <p:spPr>
          <a:xfrm>
            <a:off x="457200" y="1463040"/>
            <a:ext cx="640080" cy="640080"/>
          </a:xfrm>
          <a:prstGeom prst="ellipse">
            <a:avLst/>
          </a:prstGeom>
          <a:solidFill>
            <a:schemeClr val="accent1"/>
          </a:solidFill>
          <a:ln/>
        </p:spPr>
      </p:sp>
      <p:pic>
        <p:nvPicPr>
          <p:cNvPr id="6" name="row Copy Path icon" descr="Copy Path">    </p:cNvPr>
          <p:cNvPicPr>
            <a:picLocks noChangeAspect="1"/>
          </p:cNvPicPr>
          <p:nvPr/>
        </p:nvPicPr>
        <p:blipFill>
          <a:blip r:embed="rId2"/>
          <a:stretch>
            <a:fillRect/>
          </a:stretch>
        </p:blipFill>
        <p:spPr>
          <a:xfrm>
            <a:off x="603504" y="1609344"/>
            <a:ext cx="347472" cy="347472"/>
          </a:xfrm>
          <a:prstGeom prst="rect">
            <a:avLst/>
          </a:prstGeom>
        </p:spPr>
      </p:pic>
      <p:sp>
        <p:nvSpPr>
          <p:cNvPr id="7" name="Text 3"/>
          <p:cNvSpPr txBox="1"/>
          <p:nvPr/>
        </p:nvSpPr>
        <p:spPr>
          <a:xfrm>
            <a:off x="1371600" y="1444752"/>
            <a:ext cx="4480560" cy="365760"/>
          </a:xfrm>
          <a:prstGeom prst="rect">
            <a:avLst/>
          </a:prstGeom>
          <a:noFill/>
          <a:ln/>
        </p:spPr>
        <p:txBody>
          <a:bodyPr wrap="square" lIns="0" tIns="0" rIns="0" bIns="0" rtlCol="0" anchor="ctr"/>
          <a:lstStyle/>
          <a:p>
            <a:pPr indent="0" marL="0">
              <a:buNone/>
            </a:pPr>
            <a:r>
              <a:rPr lang="en-US" sz="1800" b="1" dirty="0">
                <a:solidFill>
                  <a:schemeClr val="bg1"/>
                </a:solidFill>
              </a:rPr>
              <a:t>Copy Path</a:t>
            </a:r>
            <a:endParaRPr lang="en-US" sz="1800" dirty="0"/>
          </a:p>
        </p:txBody>
      </p:sp>
      <p:sp>
        <p:nvSpPr>
          <p:cNvPr id="8" name="Text 4"/>
          <p:cNvSpPr txBox="1"/>
          <p:nvPr/>
        </p:nvSpPr>
        <p:spPr>
          <a:xfrm>
            <a:off x="1371600" y="1810512"/>
            <a:ext cx="4480560" cy="457200"/>
          </a:xfrm>
          <a:prstGeom prst="rect">
            <a:avLst/>
          </a:prstGeom>
          <a:noFill/>
          <a:ln/>
        </p:spPr>
        <p:txBody>
          <a:bodyPr wrap="square" lIns="0" tIns="0" rIns="0" bIns="0" rtlCol="0" anchor="t"/>
          <a:lstStyle/>
          <a:p>
            <a:pPr indent="0" marL="0">
              <a:buNone/>
            </a:pPr>
            <a:r>
              <a:rPr lang="en-US" sz="1400" dirty="0">
                <a:solidFill>
                  <a:schemeClr val="bg2"/>
                </a:solidFill>
              </a:rPr>
              <a:t>Ctrl+Shift+C — twice for a UNIX-style path</a:t>
            </a:r>
            <a:endParaRPr lang="en-US" sz="1400" dirty="0"/>
          </a:p>
        </p:txBody>
      </p:sp>
      <p:sp>
        <p:nvSpPr>
          <p:cNvPr id="9" name="row Open in Other Panel circle"/>
          <p:cNvSpPr/>
          <p:nvPr/>
        </p:nvSpPr>
        <p:spPr>
          <a:xfrm>
            <a:off x="457200" y="2651760"/>
            <a:ext cx="640080" cy="640080"/>
          </a:xfrm>
          <a:prstGeom prst="ellipse">
            <a:avLst/>
          </a:prstGeom>
          <a:solidFill>
            <a:schemeClr val="accent1"/>
          </a:solidFill>
          <a:ln/>
        </p:spPr>
      </p:sp>
      <p:pic>
        <p:nvPicPr>
          <p:cNvPr id="10" name="row Open in Other Panel icon" descr="Open in Other Panel">    </p:cNvPr>
          <p:cNvPicPr>
            <a:picLocks noChangeAspect="1"/>
          </p:cNvPicPr>
          <p:nvPr/>
        </p:nvPicPr>
        <p:blipFill>
          <a:blip r:embed="rId3"/>
          <a:stretch>
            <a:fillRect/>
          </a:stretch>
        </p:blipFill>
        <p:spPr>
          <a:xfrm>
            <a:off x="603504" y="2798064"/>
            <a:ext cx="347472" cy="347472"/>
          </a:xfrm>
          <a:prstGeom prst="rect">
            <a:avLst/>
          </a:prstGeom>
        </p:spPr>
      </p:pic>
      <p:sp>
        <p:nvSpPr>
          <p:cNvPr id="11" name="Text 6"/>
          <p:cNvSpPr txBox="1"/>
          <p:nvPr/>
        </p:nvSpPr>
        <p:spPr>
          <a:xfrm>
            <a:off x="1371600" y="2633472"/>
            <a:ext cx="4480560" cy="365760"/>
          </a:xfrm>
          <a:prstGeom prst="rect">
            <a:avLst/>
          </a:prstGeom>
          <a:noFill/>
          <a:ln/>
        </p:spPr>
        <p:txBody>
          <a:bodyPr wrap="square" lIns="0" tIns="0" rIns="0" bIns="0" rtlCol="0" anchor="ctr"/>
          <a:lstStyle/>
          <a:p>
            <a:pPr indent="0" marL="0">
              <a:buNone/>
            </a:pPr>
            <a:r>
              <a:rPr lang="en-US" sz="1800" b="1" dirty="0">
                <a:solidFill>
                  <a:schemeClr val="bg1"/>
                </a:solidFill>
              </a:rPr>
              <a:t>Open in Other Panel</a:t>
            </a:r>
            <a:endParaRPr lang="en-US" sz="1800" dirty="0"/>
          </a:p>
        </p:txBody>
      </p:sp>
      <p:sp>
        <p:nvSpPr>
          <p:cNvPr id="12" name="Text 7"/>
          <p:cNvSpPr txBox="1"/>
          <p:nvPr/>
        </p:nvSpPr>
        <p:spPr>
          <a:xfrm>
            <a:off x="1371600" y="2999232"/>
            <a:ext cx="4480560" cy="457200"/>
          </a:xfrm>
          <a:prstGeom prst="rect">
            <a:avLst/>
          </a:prstGeom>
          <a:noFill/>
          <a:ln/>
        </p:spPr>
        <p:txBody>
          <a:bodyPr wrap="square" lIns="0" tIns="0" rIns="0" bIns="0" rtlCol="0" anchor="t"/>
          <a:lstStyle/>
          <a:p>
            <a:pPr indent="0" marL="0">
              <a:buNone/>
            </a:pPr>
            <a:r>
              <a:rPr lang="en-US" sz="1400" dirty="0">
                <a:solidFill>
                  <a:schemeClr val="bg2"/>
                </a:solidFill>
              </a:rPr>
              <a:t>Ctrl+Enter, in a new tab over there</a:t>
            </a:r>
            <a:endParaRPr lang="en-US" sz="1400" dirty="0"/>
          </a:p>
        </p:txBody>
      </p:sp>
      <p:sp>
        <p:nvSpPr>
          <p:cNvPr id="13" name="row Undo circle"/>
          <p:cNvSpPr/>
          <p:nvPr/>
        </p:nvSpPr>
        <p:spPr>
          <a:xfrm>
            <a:off x="457200" y="3840480"/>
            <a:ext cx="640080" cy="640080"/>
          </a:xfrm>
          <a:prstGeom prst="ellipse">
            <a:avLst/>
          </a:prstGeom>
          <a:solidFill>
            <a:schemeClr val="accent1"/>
          </a:solidFill>
          <a:ln/>
        </p:spPr>
      </p:sp>
      <p:pic>
        <p:nvPicPr>
          <p:cNvPr id="14" name="row Undo icon" descr="Undo">    </p:cNvPr>
          <p:cNvPicPr>
            <a:picLocks noChangeAspect="1"/>
          </p:cNvPicPr>
          <p:nvPr/>
        </p:nvPicPr>
        <p:blipFill>
          <a:blip r:embed="rId4"/>
          <a:stretch>
            <a:fillRect/>
          </a:stretch>
        </p:blipFill>
        <p:spPr>
          <a:xfrm>
            <a:off x="603504" y="3986784"/>
            <a:ext cx="347472" cy="347472"/>
          </a:xfrm>
          <a:prstGeom prst="rect">
            <a:avLst/>
          </a:prstGeom>
        </p:spPr>
      </p:pic>
      <p:sp>
        <p:nvSpPr>
          <p:cNvPr id="15" name="Text 9"/>
          <p:cNvSpPr txBox="1"/>
          <p:nvPr/>
        </p:nvSpPr>
        <p:spPr>
          <a:xfrm>
            <a:off x="1371600" y="3822192"/>
            <a:ext cx="4480560" cy="365760"/>
          </a:xfrm>
          <a:prstGeom prst="rect">
            <a:avLst/>
          </a:prstGeom>
          <a:noFill/>
          <a:ln/>
        </p:spPr>
        <p:txBody>
          <a:bodyPr wrap="square" lIns="0" tIns="0" rIns="0" bIns="0" rtlCol="0" anchor="ctr"/>
          <a:lstStyle/>
          <a:p>
            <a:pPr indent="0" marL="0">
              <a:buNone/>
            </a:pPr>
            <a:r>
              <a:rPr lang="en-US" sz="1800" b="1" dirty="0">
                <a:solidFill>
                  <a:schemeClr val="bg1"/>
                </a:solidFill>
              </a:rPr>
              <a:t>Undo</a:t>
            </a:r>
            <a:endParaRPr lang="en-US" sz="1800" dirty="0"/>
          </a:p>
        </p:txBody>
      </p:sp>
      <p:sp>
        <p:nvSpPr>
          <p:cNvPr id="16" name="Text 10"/>
          <p:cNvSpPr txBox="1"/>
          <p:nvPr/>
        </p:nvSpPr>
        <p:spPr>
          <a:xfrm>
            <a:off x="1371600" y="4187952"/>
            <a:ext cx="4480560" cy="457200"/>
          </a:xfrm>
          <a:prstGeom prst="rect">
            <a:avLst/>
          </a:prstGeom>
          <a:noFill/>
          <a:ln/>
        </p:spPr>
        <p:txBody>
          <a:bodyPr wrap="square" lIns="0" tIns="0" rIns="0" bIns="0" rtlCol="0" anchor="t"/>
          <a:lstStyle/>
          <a:p>
            <a:pPr indent="0" marL="0">
              <a:buNone/>
            </a:pPr>
            <a:r>
              <a:rPr lang="en-US" sz="1400" dirty="0">
                <a:solidFill>
                  <a:schemeClr val="bg2"/>
                </a:solidFill>
              </a:rPr>
              <a:t>Ctrl+Z: rename, create, copy, move, trash</a:t>
            </a:r>
            <a:endParaRPr lang="en-US" sz="1400" dirty="0"/>
          </a:p>
        </p:txBody>
      </p:sp>
      <p:sp>
        <p:nvSpPr>
          <p:cNvPr id="17" name="row Trash and restore circle"/>
          <p:cNvSpPr/>
          <p:nvPr/>
        </p:nvSpPr>
        <p:spPr>
          <a:xfrm>
            <a:off x="457200" y="5029200"/>
            <a:ext cx="640080" cy="640080"/>
          </a:xfrm>
          <a:prstGeom prst="ellipse">
            <a:avLst/>
          </a:prstGeom>
          <a:solidFill>
            <a:schemeClr val="accent1"/>
          </a:solidFill>
          <a:ln/>
        </p:spPr>
      </p:sp>
      <p:pic>
        <p:nvPicPr>
          <p:cNvPr id="18" name="row Trash and restore icon" descr="Trash and restore">    </p:cNvPr>
          <p:cNvPicPr>
            <a:picLocks noChangeAspect="1"/>
          </p:cNvPicPr>
          <p:nvPr/>
        </p:nvPicPr>
        <p:blipFill>
          <a:blip r:embed="rId5"/>
          <a:stretch>
            <a:fillRect/>
          </a:stretch>
        </p:blipFill>
        <p:spPr>
          <a:xfrm>
            <a:off x="603504" y="5175504"/>
            <a:ext cx="347472" cy="347472"/>
          </a:xfrm>
          <a:prstGeom prst="rect">
            <a:avLst/>
          </a:prstGeom>
        </p:spPr>
      </p:pic>
      <p:sp>
        <p:nvSpPr>
          <p:cNvPr id="19" name="Text 12"/>
          <p:cNvSpPr txBox="1"/>
          <p:nvPr/>
        </p:nvSpPr>
        <p:spPr>
          <a:xfrm>
            <a:off x="1371600" y="5010912"/>
            <a:ext cx="4480560" cy="365760"/>
          </a:xfrm>
          <a:prstGeom prst="rect">
            <a:avLst/>
          </a:prstGeom>
          <a:noFill/>
          <a:ln/>
        </p:spPr>
        <p:txBody>
          <a:bodyPr wrap="square" lIns="0" tIns="0" rIns="0" bIns="0" rtlCol="0" anchor="ctr"/>
          <a:lstStyle/>
          <a:p>
            <a:pPr indent="0" marL="0">
              <a:buNone/>
            </a:pPr>
            <a:r>
              <a:rPr lang="en-US" sz="1800" b="1" dirty="0">
                <a:solidFill>
                  <a:schemeClr val="bg1"/>
                </a:solidFill>
              </a:rPr>
              <a:t>Trash and restore</a:t>
            </a:r>
            <a:endParaRPr lang="en-US" sz="1800" dirty="0"/>
          </a:p>
        </p:txBody>
      </p:sp>
      <p:sp>
        <p:nvSpPr>
          <p:cNvPr id="20" name="Text 13"/>
          <p:cNvSpPr txBox="1"/>
          <p:nvPr/>
        </p:nvSpPr>
        <p:spPr>
          <a:xfrm>
            <a:off x="1371600" y="5376672"/>
            <a:ext cx="4480560" cy="457200"/>
          </a:xfrm>
          <a:prstGeom prst="rect">
            <a:avLst/>
          </a:prstGeom>
          <a:noFill/>
          <a:ln/>
        </p:spPr>
        <p:txBody>
          <a:bodyPr wrap="square" lIns="0" tIns="0" rIns="0" bIns="0" rtlCol="0" anchor="t"/>
          <a:lstStyle/>
          <a:p>
            <a:pPr indent="0" marL="0">
              <a:buNone/>
            </a:pPr>
            <a:r>
              <a:rPr lang="en-US" sz="1400" dirty="0">
                <a:solidFill>
                  <a:schemeClr val="bg2"/>
                </a:solidFill>
              </a:rPr>
              <a:t>Delete asks first; restore from Places</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Panels, tabs and layout</a:t>
            </a:r>
            <a:endParaRPr lang="en-US" sz="3600" dirty="0"/>
          </a:p>
        </p:txBody>
      </p:sp>
      <p:sp>
        <p:nvSpPr>
          <p:cNvPr id="3" name="frame 23-layout"/>
          <p:cNvSpPr/>
          <p:nvPr/>
        </p:nvSpPr>
        <p:spPr>
          <a:xfrm>
            <a:off x="4108399" y="1289304"/>
            <a:ext cx="7662672" cy="460578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23-layout" descr="layout">    </p:cNvPr>
          <p:cNvPicPr>
            <a:picLocks noChangeAspect="1"/>
          </p:cNvPicPr>
          <p:nvPr/>
        </p:nvPicPr>
        <p:blipFill>
          <a:blip r:embed="rId1"/>
          <a:stretch>
            <a:fillRect/>
          </a:stretch>
        </p:blipFill>
        <p:spPr>
          <a:xfrm>
            <a:off x="4144975" y="1325880"/>
            <a:ext cx="7589520" cy="4532630"/>
          </a:xfrm>
          <a:prstGeom prst="rect">
            <a:avLst/>
          </a:prstGeom>
        </p:spPr>
      </p:pic>
      <p:sp>
        <p:nvSpPr>
          <p:cNvPr id="5" name="badge 1"/>
          <p:cNvSpPr/>
          <p:nvPr/>
        </p:nvSpPr>
        <p:spPr>
          <a:xfrm>
            <a:off x="457200" y="1389888"/>
            <a:ext cx="329184" cy="329184"/>
          </a:xfrm>
          <a:prstGeom prst="ellipse">
            <a:avLst/>
          </a:prstGeom>
          <a:solidFill>
            <a:schemeClr val="accent1"/>
          </a:solidFill>
          <a:ln/>
        </p:spPr>
      </p:sp>
      <p:sp>
        <p:nvSpPr>
          <p:cNvPr id="6" name="badge 1 label"/>
          <p:cNvSpPr txBox="1"/>
          <p:nvPr/>
        </p:nvSpPr>
        <p:spPr>
          <a:xfrm>
            <a:off x="45720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914400" y="1371600"/>
            <a:ext cx="2819095" cy="694944"/>
          </a:xfrm>
          <a:prstGeom prst="rect">
            <a:avLst/>
          </a:prstGeom>
          <a:noFill/>
          <a:ln/>
        </p:spPr>
        <p:txBody>
          <a:bodyPr wrap="square" lIns="0" tIns="0" rIns="0" bIns="0" rtlCol="0" anchor="t"/>
          <a:lstStyle/>
          <a:p>
            <a:pPr indent="0" marL="0">
              <a:buNone/>
            </a:pPr>
            <a:r>
              <a:rPr lang="en-US" sz="1400" b="1" dirty="0">
                <a:solidFill>
                  <a:schemeClr val="bg1"/>
                </a:solidFill>
              </a:rPr>
              <a:t>Tabs per panel</a:t>
            </a:r>
            <a:pPr indent="0" marL="0">
              <a:buNone/>
            </a:pPr>
            <a:r>
              <a:rPr lang="en-US" sz="1400" dirty="0">
                <a:solidFill>
                  <a:schemeClr val="bg2"/>
                </a:solidFill>
              </a:rPr>
              <a:t>  Ctrl+PgUp / PgDn</a:t>
            </a:r>
            <a:endParaRPr lang="en-US" sz="1400" dirty="0"/>
          </a:p>
        </p:txBody>
      </p:sp>
      <p:sp>
        <p:nvSpPr>
          <p:cNvPr id="8" name="badge 2"/>
          <p:cNvSpPr/>
          <p:nvPr/>
        </p:nvSpPr>
        <p:spPr>
          <a:xfrm>
            <a:off x="457200" y="2121408"/>
            <a:ext cx="329184" cy="329184"/>
          </a:xfrm>
          <a:prstGeom prst="ellipse">
            <a:avLst/>
          </a:prstGeom>
          <a:solidFill>
            <a:schemeClr val="accent1"/>
          </a:solidFill>
          <a:ln/>
        </p:spPr>
      </p:sp>
      <p:sp>
        <p:nvSpPr>
          <p:cNvPr id="9" name="badge 2 label"/>
          <p:cNvSpPr txBox="1"/>
          <p:nvPr/>
        </p:nvSpPr>
        <p:spPr>
          <a:xfrm>
            <a:off x="457200" y="21214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914400" y="2103120"/>
            <a:ext cx="2819095" cy="694944"/>
          </a:xfrm>
          <a:prstGeom prst="rect">
            <a:avLst/>
          </a:prstGeom>
          <a:noFill/>
          <a:ln/>
        </p:spPr>
        <p:txBody>
          <a:bodyPr wrap="square" lIns="0" tIns="0" rIns="0" bIns="0" rtlCol="0" anchor="t"/>
          <a:lstStyle/>
          <a:p>
            <a:pPr indent="0" marL="0">
              <a:buNone/>
            </a:pPr>
            <a:r>
              <a:rPr lang="en-US" sz="1400" b="1" dirty="0">
                <a:solidFill>
                  <a:schemeClr val="bg1"/>
                </a:solidFill>
              </a:rPr>
              <a:t>Split right or down</a:t>
            </a:r>
            <a:pPr indent="0" marL="0">
              <a:buNone/>
            </a:pPr>
            <a:r>
              <a:rPr lang="en-US" sz="1400" dirty="0">
                <a:solidFill>
                  <a:schemeClr val="bg2"/>
                </a:solidFill>
              </a:rPr>
              <a:t>  / splits right; drag a tab across</a:t>
            </a:r>
            <a:endParaRPr lang="en-US" sz="1400" dirty="0"/>
          </a:p>
        </p:txBody>
      </p:sp>
      <p:sp>
        <p:nvSpPr>
          <p:cNvPr id="11" name="badge 3"/>
          <p:cNvSpPr/>
          <p:nvPr/>
        </p:nvSpPr>
        <p:spPr>
          <a:xfrm>
            <a:off x="457200" y="2852928"/>
            <a:ext cx="329184" cy="329184"/>
          </a:xfrm>
          <a:prstGeom prst="ellipse">
            <a:avLst/>
          </a:prstGeom>
          <a:solidFill>
            <a:schemeClr val="accent1"/>
          </a:solidFill>
          <a:ln/>
        </p:spPr>
      </p:sp>
      <p:sp>
        <p:nvSpPr>
          <p:cNvPr id="12" name="badge 3 label"/>
          <p:cNvSpPr txBox="1"/>
          <p:nvPr/>
        </p:nvSpPr>
        <p:spPr>
          <a:xfrm>
            <a:off x="457200" y="28529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914400" y="2834640"/>
            <a:ext cx="2819095" cy="694944"/>
          </a:xfrm>
          <a:prstGeom prst="rect">
            <a:avLst/>
          </a:prstGeom>
          <a:noFill/>
          <a:ln/>
        </p:spPr>
        <p:txBody>
          <a:bodyPr wrap="square" lIns="0" tIns="0" rIns="0" bIns="0" rtlCol="0" anchor="t"/>
          <a:lstStyle/>
          <a:p>
            <a:pPr indent="0" marL="0">
              <a:buNone/>
            </a:pPr>
            <a:r>
              <a:rPr lang="en-US" sz="1400" b="1" dirty="0">
                <a:solidFill>
                  <a:schemeClr val="bg1"/>
                </a:solidFill>
              </a:rPr>
              <a:t>Tab / Shift+Tab</a:t>
            </a:r>
            <a:pPr indent="0" marL="0">
              <a:buNone/>
            </a:pPr>
            <a:r>
              <a:rPr lang="en-US" sz="1400" dirty="0">
                <a:solidFill>
                  <a:schemeClr val="bg2"/>
                </a:solidFill>
              </a:rPr>
              <a:t>  move between panels</a:t>
            </a:r>
            <a:endParaRPr lang="en-US" sz="1400" dirty="0"/>
          </a:p>
        </p:txBody>
      </p:sp>
      <p:sp>
        <p:nvSpPr>
          <p:cNvPr id="14" name="badge 4"/>
          <p:cNvSpPr/>
          <p:nvPr/>
        </p:nvSpPr>
        <p:spPr>
          <a:xfrm>
            <a:off x="457200" y="3584448"/>
            <a:ext cx="329184" cy="329184"/>
          </a:xfrm>
          <a:prstGeom prst="ellipse">
            <a:avLst/>
          </a:prstGeom>
          <a:solidFill>
            <a:schemeClr val="accent1"/>
          </a:solidFill>
          <a:ln/>
        </p:spPr>
      </p:sp>
      <p:sp>
        <p:nvSpPr>
          <p:cNvPr id="15" name="badge 4 label"/>
          <p:cNvSpPr txBox="1"/>
          <p:nvPr/>
        </p:nvSpPr>
        <p:spPr>
          <a:xfrm>
            <a:off x="457200" y="35844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914400" y="3566160"/>
            <a:ext cx="2819095" cy="694944"/>
          </a:xfrm>
          <a:prstGeom prst="rect">
            <a:avLst/>
          </a:prstGeom>
          <a:noFill/>
          <a:ln/>
        </p:spPr>
        <p:txBody>
          <a:bodyPr wrap="square" lIns="0" tIns="0" rIns="0" bIns="0" rtlCol="0" anchor="t"/>
          <a:lstStyle/>
          <a:p>
            <a:pPr indent="0" marL="0">
              <a:buNone/>
            </a:pPr>
            <a:r>
              <a:rPr lang="en-US" sz="1400" b="1" dirty="0">
                <a:solidFill>
                  <a:schemeClr val="bg1"/>
                </a:solidFill>
              </a:rPr>
              <a:t>Drag a border</a:t>
            </a:r>
            <a:pPr indent="0" marL="0">
              <a:buNone/>
            </a:pPr>
            <a:r>
              <a:rPr lang="en-US" sz="1400" dirty="0">
                <a:solidFill>
                  <a:schemeClr val="bg2"/>
                </a:solidFill>
              </a:rPr>
              <a:t>  to resize</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Pictures</a:t>
            </a:r>
            <a:endParaRPr lang="en-US" sz="3600" dirty="0"/>
          </a:p>
        </p:txBody>
      </p:sp>
      <p:sp>
        <p:nvSpPr>
          <p:cNvPr id="3" name="frame 05-image-viewer"/>
          <p:cNvSpPr/>
          <p:nvPr/>
        </p:nvSpPr>
        <p:spPr>
          <a:xfrm>
            <a:off x="420624" y="1289304"/>
            <a:ext cx="7662672" cy="460578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5-image-viewer" descr="image viewer">    </p:cNvPr>
          <p:cNvPicPr>
            <a:picLocks noChangeAspect="1"/>
          </p:cNvPicPr>
          <p:nvPr/>
        </p:nvPicPr>
        <p:blipFill>
          <a:blip r:embed="rId1"/>
          <a:stretch>
            <a:fillRect/>
          </a:stretch>
        </p:blipFill>
        <p:spPr>
          <a:xfrm>
            <a:off x="457200" y="1325880"/>
            <a:ext cx="7589520" cy="4532630"/>
          </a:xfrm>
          <a:prstGeom prst="rect">
            <a:avLst/>
          </a:prstGeom>
        </p:spPr>
      </p:pic>
      <p:sp>
        <p:nvSpPr>
          <p:cNvPr id="5" name="badge 1"/>
          <p:cNvSpPr/>
          <p:nvPr/>
        </p:nvSpPr>
        <p:spPr>
          <a:xfrm>
            <a:off x="8458200" y="1389888"/>
            <a:ext cx="329184" cy="329184"/>
          </a:xfrm>
          <a:prstGeom prst="ellipse">
            <a:avLst/>
          </a:prstGeom>
          <a:solidFill>
            <a:schemeClr val="accent1"/>
          </a:solidFill>
          <a:ln/>
        </p:spPr>
      </p:sp>
      <p:sp>
        <p:nvSpPr>
          <p:cNvPr id="6" name="badge 1 label"/>
          <p:cNvSpPr txBox="1"/>
          <p:nvPr/>
        </p:nvSpPr>
        <p:spPr>
          <a:xfrm>
            <a:off x="845820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8915400" y="1371600"/>
            <a:ext cx="2819095" cy="694944"/>
          </a:xfrm>
          <a:prstGeom prst="rect">
            <a:avLst/>
          </a:prstGeom>
          <a:noFill/>
          <a:ln/>
        </p:spPr>
        <p:txBody>
          <a:bodyPr wrap="square" lIns="0" tIns="0" rIns="0" bIns="0" rtlCol="0" anchor="t"/>
          <a:lstStyle/>
          <a:p>
            <a:pPr indent="0" marL="0">
              <a:buNone/>
            </a:pPr>
            <a:r>
              <a:rPr lang="en-US" sz="1400" b="1" dirty="0">
                <a:solidFill>
                  <a:schemeClr val="bg1"/>
                </a:solidFill>
              </a:rPr>
              <a:t>Opens in a tab</a:t>
            </a:r>
            <a:pPr indent="0" marL="0">
              <a:buNone/>
            </a:pPr>
            <a:r>
              <a:rPr lang="en-US" sz="1400" dirty="0">
                <a:solidFill>
                  <a:schemeClr val="bg2"/>
                </a:solidFill>
              </a:rPr>
              <a:t>  Escape closes it</a:t>
            </a:r>
            <a:endParaRPr lang="en-US" sz="1400" dirty="0"/>
          </a:p>
        </p:txBody>
      </p:sp>
      <p:sp>
        <p:nvSpPr>
          <p:cNvPr id="8" name="badge 2"/>
          <p:cNvSpPr/>
          <p:nvPr/>
        </p:nvSpPr>
        <p:spPr>
          <a:xfrm>
            <a:off x="8458200" y="2121408"/>
            <a:ext cx="329184" cy="329184"/>
          </a:xfrm>
          <a:prstGeom prst="ellipse">
            <a:avLst/>
          </a:prstGeom>
          <a:solidFill>
            <a:schemeClr val="accent1"/>
          </a:solidFill>
          <a:ln/>
        </p:spPr>
      </p:sp>
      <p:sp>
        <p:nvSpPr>
          <p:cNvPr id="9" name="badge 2 label"/>
          <p:cNvSpPr txBox="1"/>
          <p:nvPr/>
        </p:nvSpPr>
        <p:spPr>
          <a:xfrm>
            <a:off x="8458200" y="21214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8915400" y="2103120"/>
            <a:ext cx="2819095" cy="694944"/>
          </a:xfrm>
          <a:prstGeom prst="rect">
            <a:avLst/>
          </a:prstGeom>
          <a:noFill/>
          <a:ln/>
        </p:spPr>
        <p:txBody>
          <a:bodyPr wrap="square" lIns="0" tIns="0" rIns="0" bIns="0" rtlCol="0" anchor="t"/>
          <a:lstStyle/>
          <a:p>
            <a:pPr indent="0" marL="0">
              <a:buNone/>
            </a:pPr>
            <a:r>
              <a:rPr lang="en-US" sz="1400" b="1" dirty="0">
                <a:solidFill>
                  <a:schemeClr val="bg1"/>
                </a:solidFill>
              </a:rPr>
              <a:t>Zoom · 100 % · fit · fill</a:t>
            </a:r>
            <a:pPr indent="0" marL="0">
              <a:buNone/>
            </a:pPr>
            <a:r>
              <a:rPr lang="en-US" sz="1400" dirty="0">
                <a:solidFill>
                  <a:schemeClr val="bg2"/>
                </a:solidFill>
              </a:rPr>
              <a:t>  +  −  1  0</a:t>
            </a:r>
            <a:endParaRPr lang="en-US" sz="1400" dirty="0"/>
          </a:p>
        </p:txBody>
      </p:sp>
      <p:sp>
        <p:nvSpPr>
          <p:cNvPr id="11" name="badge 3"/>
          <p:cNvSpPr/>
          <p:nvPr/>
        </p:nvSpPr>
        <p:spPr>
          <a:xfrm>
            <a:off x="8458200" y="2852928"/>
            <a:ext cx="329184" cy="329184"/>
          </a:xfrm>
          <a:prstGeom prst="ellipse">
            <a:avLst/>
          </a:prstGeom>
          <a:solidFill>
            <a:schemeClr val="accent1"/>
          </a:solidFill>
          <a:ln/>
        </p:spPr>
      </p:sp>
      <p:sp>
        <p:nvSpPr>
          <p:cNvPr id="12" name="badge 3 label"/>
          <p:cNvSpPr txBox="1"/>
          <p:nvPr/>
        </p:nvSpPr>
        <p:spPr>
          <a:xfrm>
            <a:off x="8458200" y="28529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8915400" y="2834640"/>
            <a:ext cx="2819095" cy="694944"/>
          </a:xfrm>
          <a:prstGeom prst="rect">
            <a:avLst/>
          </a:prstGeom>
          <a:noFill/>
          <a:ln/>
        </p:spPr>
        <p:txBody>
          <a:bodyPr wrap="square" lIns="0" tIns="0" rIns="0" bIns="0" rtlCol="0" anchor="t"/>
          <a:lstStyle/>
          <a:p>
            <a:pPr indent="0" marL="0">
              <a:buNone/>
            </a:pPr>
            <a:r>
              <a:rPr lang="en-US" sz="1400" b="1" dirty="0">
                <a:solidFill>
                  <a:schemeClr val="bg1"/>
                </a:solidFill>
              </a:rPr>
              <a:t>Wheel zooms, drag pans</a:t>
            </a:r>
            <a:pPr indent="0" marL="0">
              <a:buNone/>
            </a:pPr>
            <a:r>
              <a:rPr lang="en-US" sz="1400" dirty="0">
                <a:solidFill>
                  <a:schemeClr val="bg2"/>
                </a:solidFill>
              </a:rPr>
              <a:t>  PgUp / PgDn: next picture</a:t>
            </a:r>
            <a:endParaRPr lang="en-US" sz="1400" dirty="0"/>
          </a:p>
        </p:txBody>
      </p:sp>
      <p:sp>
        <p:nvSpPr>
          <p:cNvPr id="14" name="badge 4"/>
          <p:cNvSpPr/>
          <p:nvPr/>
        </p:nvSpPr>
        <p:spPr>
          <a:xfrm>
            <a:off x="8458200" y="3584448"/>
            <a:ext cx="329184" cy="329184"/>
          </a:xfrm>
          <a:prstGeom prst="ellipse">
            <a:avLst/>
          </a:prstGeom>
          <a:solidFill>
            <a:schemeClr val="accent1"/>
          </a:solidFill>
          <a:ln/>
        </p:spPr>
      </p:sp>
      <p:sp>
        <p:nvSpPr>
          <p:cNvPr id="15" name="badge 4 label"/>
          <p:cNvSpPr txBox="1"/>
          <p:nvPr/>
        </p:nvSpPr>
        <p:spPr>
          <a:xfrm>
            <a:off x="8458200" y="35844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8915400" y="3566160"/>
            <a:ext cx="2819095" cy="694944"/>
          </a:xfrm>
          <a:prstGeom prst="rect">
            <a:avLst/>
          </a:prstGeom>
          <a:noFill/>
          <a:ln/>
        </p:spPr>
        <p:txBody>
          <a:bodyPr wrap="square" lIns="0" tIns="0" rIns="0" bIns="0" rtlCol="0" anchor="t"/>
          <a:lstStyle/>
          <a:p>
            <a:pPr indent="0" marL="0">
              <a:buNone/>
            </a:pPr>
            <a:r>
              <a:rPr lang="en-US" sz="1400" b="1" dirty="0">
                <a:solidFill>
                  <a:schemeClr val="bg1"/>
                </a:solidFill>
              </a:rPr>
              <a:t>Grid view</a:t>
            </a:r>
            <a:pPr indent="0" marL="0">
              <a:buNone/>
            </a:pPr>
            <a:r>
              <a:rPr lang="en-US" sz="1400" dirty="0">
                <a:solidFill>
                  <a:schemeClr val="bg2"/>
                </a:solidFill>
              </a:rPr>
              <a:t>  with thumbnails</a:t>
            </a:r>
            <a:endParaRPr lang="en-US" sz="1400" dirty="0"/>
          </a:p>
        </p:txBody>
      </p:sp>
      <p:sp>
        <p:nvSpPr>
          <p:cNvPr id="17" name="badge 5"/>
          <p:cNvSpPr/>
          <p:nvPr/>
        </p:nvSpPr>
        <p:spPr>
          <a:xfrm>
            <a:off x="8458200" y="4315968"/>
            <a:ext cx="329184" cy="329184"/>
          </a:xfrm>
          <a:prstGeom prst="ellipse">
            <a:avLst/>
          </a:prstGeom>
          <a:solidFill>
            <a:schemeClr val="accent1"/>
          </a:solidFill>
          <a:ln/>
        </p:spPr>
      </p:sp>
      <p:sp>
        <p:nvSpPr>
          <p:cNvPr id="18" name="badge 5 label"/>
          <p:cNvSpPr txBox="1"/>
          <p:nvPr/>
        </p:nvSpPr>
        <p:spPr>
          <a:xfrm>
            <a:off x="8458200" y="43159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9" name="legend 5"/>
          <p:cNvSpPr txBox="1"/>
          <p:nvPr/>
        </p:nvSpPr>
        <p:spPr>
          <a:xfrm>
            <a:off x="8915400" y="4297680"/>
            <a:ext cx="2819095" cy="694944"/>
          </a:xfrm>
          <a:prstGeom prst="rect">
            <a:avLst/>
          </a:prstGeom>
          <a:noFill/>
          <a:ln/>
        </p:spPr>
        <p:txBody>
          <a:bodyPr wrap="square" lIns="0" tIns="0" rIns="0" bIns="0" rtlCol="0" anchor="t"/>
          <a:lstStyle/>
          <a:p>
            <a:pPr indent="0" marL="0">
              <a:buNone/>
            </a:pPr>
            <a:r>
              <a:rPr lang="en-US" sz="1400" b="1" dirty="0">
                <a:solidFill>
                  <a:schemeClr val="bg1"/>
                </a:solidFill>
              </a:rPr>
              <a:t>Details card</a:t>
            </a:r>
            <a:pPr indent="0" marL="0">
              <a:buNone/>
            </a:pPr>
            <a:r>
              <a:rPr lang="en-US" sz="1400" dirty="0">
                <a:solidFill>
                  <a:schemeClr val="bg2"/>
                </a:solidFill>
              </a:rPr>
              <a:t>  previews it too</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Read, then press F4 to edit</a:t>
            </a:r>
            <a:endParaRPr lang="en-US" sz="3600" dirty="0"/>
          </a:p>
        </p:txBody>
      </p:sp>
      <p:sp>
        <p:nvSpPr>
          <p:cNvPr id="3" name="frame 06-markdown"/>
          <p:cNvSpPr/>
          <p:nvPr/>
        </p:nvSpPr>
        <p:spPr>
          <a:xfrm>
            <a:off x="785691" y="1289304"/>
            <a:ext cx="4753066" cy="459943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6-markdown" descr="markdown">    </p:cNvPr>
          <p:cNvPicPr>
            <a:picLocks noChangeAspect="1"/>
          </p:cNvPicPr>
          <p:nvPr/>
        </p:nvPicPr>
        <p:blipFill>
          <a:blip r:embed="rId1"/>
          <a:stretch>
            <a:fillRect/>
          </a:stretch>
        </p:blipFill>
        <p:spPr>
          <a:xfrm>
            <a:off x="822267" y="1325880"/>
            <a:ext cx="4679914" cy="4526280"/>
          </a:xfrm>
          <a:prstGeom prst="rect">
            <a:avLst/>
          </a:prstGeom>
        </p:spPr>
      </p:pic>
      <p:sp>
        <p:nvSpPr>
          <p:cNvPr id="5" name="frame 07-editor"/>
          <p:cNvSpPr/>
          <p:nvPr/>
        </p:nvSpPr>
        <p:spPr>
          <a:xfrm>
            <a:off x="6652939" y="1289304"/>
            <a:ext cx="4753066" cy="459943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6" name="shot 07-editor" descr="editor">    </p:cNvPr>
          <p:cNvPicPr>
            <a:picLocks noChangeAspect="1"/>
          </p:cNvPicPr>
          <p:nvPr/>
        </p:nvPicPr>
        <p:blipFill>
          <a:blip r:embed="rId2"/>
          <a:stretch>
            <a:fillRect/>
          </a:stretch>
        </p:blipFill>
        <p:spPr>
          <a:xfrm>
            <a:off x="6689515" y="1325880"/>
            <a:ext cx="4679914" cy="4526280"/>
          </a:xfrm>
          <a:prstGeom prst="rect">
            <a:avLst/>
          </a:prstGeom>
        </p:spPr>
      </p:pic>
      <p:sp>
        <p:nvSpPr>
          <p:cNvPr id="7" name="Text 3"/>
          <p:cNvSpPr txBox="1"/>
          <p:nvPr/>
        </p:nvSpPr>
        <p:spPr>
          <a:xfrm>
            <a:off x="457200" y="6035040"/>
            <a:ext cx="5410048" cy="320040"/>
          </a:xfrm>
          <a:prstGeom prst="rect">
            <a:avLst/>
          </a:prstGeom>
          <a:noFill/>
          <a:ln/>
        </p:spPr>
        <p:txBody>
          <a:bodyPr wrap="square" lIns="0" tIns="0" rIns="0" bIns="0" rtlCol="0" anchor="ctr"/>
          <a:lstStyle/>
          <a:p>
            <a:pPr algn="ctr" indent="0" marL="0">
              <a:buNone/>
            </a:pPr>
            <a:r>
              <a:rPr lang="en-US" sz="1400" dirty="0">
                <a:solidFill>
                  <a:schemeClr val="bg2"/>
                </a:solidFill>
              </a:rPr>
              <a:t>Markdown rendered — select and copy its text</a:t>
            </a:r>
            <a:endParaRPr lang="en-US" sz="1400" dirty="0"/>
          </a:p>
        </p:txBody>
      </p:sp>
      <p:sp>
        <p:nvSpPr>
          <p:cNvPr id="8" name="Text 4"/>
          <p:cNvSpPr txBox="1"/>
          <p:nvPr/>
        </p:nvSpPr>
        <p:spPr>
          <a:xfrm>
            <a:off x="6324448" y="6035040"/>
            <a:ext cx="5410048" cy="320040"/>
          </a:xfrm>
          <a:prstGeom prst="rect">
            <a:avLst/>
          </a:prstGeom>
          <a:noFill/>
          <a:ln/>
        </p:spPr>
        <p:txBody>
          <a:bodyPr wrap="square" lIns="0" tIns="0" rIns="0" bIns="0" rtlCol="0" anchor="ctr"/>
          <a:lstStyle/>
          <a:p>
            <a:pPr algn="ctr" indent="0" marL="0">
              <a:buNone/>
            </a:pPr>
            <a:r>
              <a:rPr lang="en-US" sz="1400" dirty="0">
                <a:solidFill>
                  <a:schemeClr val="bg2"/>
                </a:solidFill>
              </a:rPr>
              <a:t>Highlighted editor · dot = unsaved · Ctrl+S saves</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JSON as a tree, CSV as a sheet</a:t>
            </a:r>
            <a:endParaRPr lang="en-US" sz="3600" dirty="0"/>
          </a:p>
        </p:txBody>
      </p:sp>
      <p:sp>
        <p:nvSpPr>
          <p:cNvPr id="3" name="frame 08-json"/>
          <p:cNvSpPr/>
          <p:nvPr/>
        </p:nvSpPr>
        <p:spPr>
          <a:xfrm>
            <a:off x="785691" y="1289304"/>
            <a:ext cx="4753066" cy="459943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08-json" descr="json">    </p:cNvPr>
          <p:cNvPicPr>
            <a:picLocks noChangeAspect="1"/>
          </p:cNvPicPr>
          <p:nvPr/>
        </p:nvPicPr>
        <p:blipFill>
          <a:blip r:embed="rId1"/>
          <a:stretch>
            <a:fillRect/>
          </a:stretch>
        </p:blipFill>
        <p:spPr>
          <a:xfrm>
            <a:off x="822267" y="1325880"/>
            <a:ext cx="4679914" cy="4526280"/>
          </a:xfrm>
          <a:prstGeom prst="rect">
            <a:avLst/>
          </a:prstGeom>
        </p:spPr>
      </p:pic>
      <p:sp>
        <p:nvSpPr>
          <p:cNvPr id="5" name="frame 09-csv"/>
          <p:cNvSpPr/>
          <p:nvPr/>
        </p:nvSpPr>
        <p:spPr>
          <a:xfrm>
            <a:off x="6652939" y="1289304"/>
            <a:ext cx="4753066" cy="459943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6" name="shot 09-csv" descr="csv">    </p:cNvPr>
          <p:cNvPicPr>
            <a:picLocks noChangeAspect="1"/>
          </p:cNvPicPr>
          <p:nvPr/>
        </p:nvPicPr>
        <p:blipFill>
          <a:blip r:embed="rId2"/>
          <a:stretch>
            <a:fillRect/>
          </a:stretch>
        </p:blipFill>
        <p:spPr>
          <a:xfrm>
            <a:off x="6689515" y="1325880"/>
            <a:ext cx="4679914" cy="4526280"/>
          </a:xfrm>
          <a:prstGeom prst="rect">
            <a:avLst/>
          </a:prstGeom>
        </p:spPr>
      </p:pic>
      <p:sp>
        <p:nvSpPr>
          <p:cNvPr id="7" name="Text 3"/>
          <p:cNvSpPr txBox="1"/>
          <p:nvPr/>
        </p:nvSpPr>
        <p:spPr>
          <a:xfrm>
            <a:off x="457200" y="6035040"/>
            <a:ext cx="5410048" cy="320040"/>
          </a:xfrm>
          <a:prstGeom prst="rect">
            <a:avLst/>
          </a:prstGeom>
          <a:noFill/>
          <a:ln/>
        </p:spPr>
        <p:txBody>
          <a:bodyPr wrap="square" lIns="0" tIns="0" rIns="0" bIns="0" rtlCol="0" anchor="ctr"/>
          <a:lstStyle/>
          <a:p>
            <a:pPr algn="ctr" indent="0" marL="0">
              <a:buNone/>
            </a:pPr>
            <a:r>
              <a:rPr lang="en-US" sz="1400" dirty="0">
                <a:solidFill>
                  <a:schemeClr val="bg2"/>
                </a:solidFill>
              </a:rPr>
              <a:t>Search keys and values · F2 edits in place</a:t>
            </a:r>
            <a:endParaRPr lang="en-US" sz="1400" dirty="0"/>
          </a:p>
        </p:txBody>
      </p:sp>
      <p:sp>
        <p:nvSpPr>
          <p:cNvPr id="8" name="Text 4"/>
          <p:cNvSpPr txBox="1"/>
          <p:nvPr/>
        </p:nvSpPr>
        <p:spPr>
          <a:xfrm>
            <a:off x="6324448" y="6035040"/>
            <a:ext cx="5410048" cy="320040"/>
          </a:xfrm>
          <a:prstGeom prst="rect">
            <a:avLst/>
          </a:prstGeom>
          <a:noFill/>
          <a:ln/>
        </p:spPr>
        <p:txBody>
          <a:bodyPr wrap="square" lIns="0" tIns="0" rIns="0" bIns="0" rtlCol="0" anchor="ctr"/>
          <a:lstStyle/>
          <a:p>
            <a:pPr algn="ctr" indent="0" marL="0">
              <a:buNone/>
            </a:pPr>
            <a:r>
              <a:rPr lang="en-US" sz="1400" dirty="0">
                <a:solidFill>
                  <a:schemeClr val="bg2"/>
                </a:solidFill>
              </a:rPr>
              <a:t>Excel’s keys · find · F4 to edit cells</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Find anything</a:t>
            </a:r>
            <a:endParaRPr lang="en-US" sz="3600" dirty="0"/>
          </a:p>
        </p:txBody>
      </p:sp>
      <p:sp>
        <p:nvSpPr>
          <p:cNvPr id="3" name="frame 10-palette"/>
          <p:cNvSpPr/>
          <p:nvPr/>
        </p:nvSpPr>
        <p:spPr>
          <a:xfrm>
            <a:off x="420624" y="1289304"/>
            <a:ext cx="6748272" cy="2596600"/>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0-palette" descr="palette">    </p:cNvPr>
          <p:cNvPicPr>
            <a:picLocks noChangeAspect="1"/>
          </p:cNvPicPr>
          <p:nvPr/>
        </p:nvPicPr>
        <p:blipFill>
          <a:blip r:embed="rId1"/>
          <a:stretch>
            <a:fillRect/>
          </a:stretch>
        </p:blipFill>
        <p:spPr>
          <a:xfrm>
            <a:off x="457200" y="1325880"/>
            <a:ext cx="6675120" cy="2523448"/>
          </a:xfrm>
          <a:prstGeom prst="rect">
            <a:avLst/>
          </a:prstGeom>
        </p:spPr>
      </p:pic>
      <p:sp>
        <p:nvSpPr>
          <p:cNvPr id="5" name="Text 2"/>
          <p:cNvSpPr txBox="1"/>
          <p:nvPr/>
        </p:nvSpPr>
        <p:spPr>
          <a:xfrm>
            <a:off x="457200" y="3986488"/>
            <a:ext cx="6675120" cy="320040"/>
          </a:xfrm>
          <a:prstGeom prst="rect">
            <a:avLst/>
          </a:prstGeom>
          <a:noFill/>
          <a:ln/>
        </p:spPr>
        <p:txBody>
          <a:bodyPr wrap="square" lIns="0" tIns="0" rIns="0" bIns="0" rtlCol="0" anchor="ctr"/>
          <a:lstStyle/>
          <a:p>
            <a:pPr indent="0" marL="0">
              <a:buNone/>
            </a:pPr>
            <a:r>
              <a:rPr lang="en-US" sz="1400" dirty="0">
                <a:solidFill>
                  <a:schemeClr val="bg2"/>
                </a:solidFill>
              </a:rPr>
              <a:t>Command palette — Ctrl+Shift+P: every command, with its key</a:t>
            </a:r>
            <a:endParaRPr lang="en-US" sz="1400" dirty="0"/>
          </a:p>
        </p:txBody>
      </p:sp>
      <p:sp>
        <p:nvSpPr>
          <p:cNvPr id="6" name="frame 20-search"/>
          <p:cNvSpPr/>
          <p:nvPr/>
        </p:nvSpPr>
        <p:spPr>
          <a:xfrm>
            <a:off x="420624" y="4498552"/>
            <a:ext cx="3820113" cy="1893104"/>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7" name="shot 20-search" descr="search">    </p:cNvPr>
          <p:cNvPicPr>
            <a:picLocks noChangeAspect="1"/>
          </p:cNvPicPr>
          <p:nvPr/>
        </p:nvPicPr>
        <p:blipFill>
          <a:blip r:embed="rId2"/>
          <a:stretch>
            <a:fillRect/>
          </a:stretch>
        </p:blipFill>
        <p:spPr>
          <a:xfrm>
            <a:off x="457200" y="4535128"/>
            <a:ext cx="3746961" cy="1819952"/>
          </a:xfrm>
          <a:prstGeom prst="rect">
            <a:avLst/>
          </a:prstGeom>
        </p:spPr>
      </p:pic>
      <p:sp>
        <p:nvSpPr>
          <p:cNvPr id="8" name="Text 4"/>
          <p:cNvSpPr txBox="1"/>
          <p:nvPr/>
        </p:nvSpPr>
        <p:spPr>
          <a:xfrm>
            <a:off x="4569921" y="4535128"/>
            <a:ext cx="2562399" cy="1463040"/>
          </a:xfrm>
          <a:prstGeom prst="rect">
            <a:avLst/>
          </a:prstGeom>
          <a:noFill/>
          <a:ln/>
        </p:spPr>
        <p:txBody>
          <a:bodyPr wrap="square" lIns="0" tIns="0" rIns="0" bIns="0" rtlCol="0" anchor="t"/>
          <a:lstStyle/>
          <a:p>
            <a:pPr indent="0" marL="0">
              <a:buNone/>
            </a:pPr>
            <a:r>
              <a:rPr lang="en-US" sz="1500" b="1" dirty="0">
                <a:solidFill>
                  <a:schemeClr val="bg1"/>
                </a:solidFill>
              </a:rPr>
              <a:t>Search by name</a:t>
            </a:r>
            <a:endParaRPr lang="en-US" sz="1500" dirty="0"/>
          </a:p>
          <a:p>
            <a:pPr indent="0" marL="0">
              <a:buNone/>
            </a:pPr>
            <a:r>
              <a:rPr lang="en-US" sz="1500" dirty="0">
                <a:solidFill>
                  <a:schemeClr val="bg2"/>
                </a:solidFill>
              </a:rPr>
              <a:t>Ctrl+Shift+F, in the workspace or the active folder. Click a result to show it.</a:t>
            </a:r>
            <a:endParaRPr lang="en-US" sz="1500" dirty="0"/>
          </a:p>
        </p:txBody>
      </p:sp>
      <p:sp>
        <p:nvSpPr>
          <p:cNvPr id="9" name="frame 22-gear"/>
          <p:cNvSpPr/>
          <p:nvPr/>
        </p:nvSpPr>
        <p:spPr>
          <a:xfrm>
            <a:off x="7552944" y="1289304"/>
            <a:ext cx="3913632" cy="281635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10" name="shot 22-gear" descr="gear">    </p:cNvPr>
          <p:cNvPicPr>
            <a:picLocks noChangeAspect="1"/>
          </p:cNvPicPr>
          <p:nvPr/>
        </p:nvPicPr>
        <p:blipFill>
          <a:blip r:embed="rId3"/>
          <a:stretch>
            <a:fillRect/>
          </a:stretch>
        </p:blipFill>
        <p:spPr>
          <a:xfrm>
            <a:off x="7589520" y="1325880"/>
            <a:ext cx="3840480" cy="2743200"/>
          </a:xfrm>
          <a:prstGeom prst="rect">
            <a:avLst/>
          </a:prstGeom>
        </p:spPr>
      </p:pic>
      <p:sp>
        <p:nvSpPr>
          <p:cNvPr id="11" name="Text 6"/>
          <p:cNvSpPr txBox="1"/>
          <p:nvPr/>
        </p:nvSpPr>
        <p:spPr>
          <a:xfrm>
            <a:off x="7589520" y="4251960"/>
            <a:ext cx="4144975" cy="2103120"/>
          </a:xfrm>
          <a:prstGeom prst="rect">
            <a:avLst/>
          </a:prstGeom>
          <a:noFill/>
          <a:ln/>
        </p:spPr>
        <p:txBody>
          <a:bodyPr wrap="square" lIns="0" tIns="0" rIns="0" bIns="0" rtlCol="0" anchor="t"/>
          <a:lstStyle/>
          <a:p>
            <a:pPr indent="0" marL="0">
              <a:buNone/>
            </a:pPr>
            <a:r>
              <a:rPr lang="en-US" sz="1500" b="1" dirty="0">
                <a:solidFill>
                  <a:schemeClr val="bg1"/>
                </a:solidFill>
              </a:rPr>
              <a:t>Bookmarks</a:t>
            </a:r>
            <a:endParaRPr lang="en-US" sz="1500" dirty="0"/>
          </a:p>
          <a:p>
            <a:pPr indent="0" marL="0">
              <a:buNone/>
            </a:pPr>
            <a:r>
              <a:rPr lang="en-US" sz="1500" dirty="0">
                <a:solidFill>
                  <a:schemeClr val="bg2"/>
                </a:solidFill>
              </a:rPr>
              <a:t>Right-click a folder › Add to Bookmarks. Drag to reorder; Ctrl+1…9 on the desktop.</a:t>
            </a:r>
            <a:endParaRPr lang="en-US" sz="1500" dirty="0"/>
          </a:p>
          <a:p>
            <a:pPr indent="0" marL="0">
              <a:buNone/>
            </a:pPr>
            <a:r>
              <a:rPr lang="en-US" sz="1500" dirty="0">
                <a:solidFill>
                  <a:srgbClr val="000000"/>
                </a:solidFill>
              </a:rPr>
              <a:t> </a:t>
            </a:r>
            <a:endParaRPr lang="en-US" sz="1500" dirty="0"/>
          </a:p>
          <a:p>
            <a:pPr indent="0" marL="0">
              <a:buNone/>
            </a:pPr>
            <a:r>
              <a:rPr lang="en-US" sz="1500" b="1" dirty="0">
                <a:solidFill>
                  <a:schemeClr val="bg1"/>
                </a:solidFill>
              </a:rPr>
              <a:t>The gear</a:t>
            </a:r>
            <a:endParaRPr lang="en-US" sz="1500" dirty="0"/>
          </a:p>
          <a:p>
            <a:pPr indent="0" marL="0">
              <a:buNone/>
            </a:pPr>
            <a:r>
              <a:rPr lang="en-US" sz="1500" dirty="0">
                <a:solidFill>
                  <a:schemeClr val="bg2"/>
                </a:solidFill>
              </a:rPr>
              <a:t>Settings, keyboard shortcuts, hidden files (Ctrl+H), layout.</a:t>
            </a:r>
            <a:endParaRPr lang="en-US" sz="15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Git, in the Details sidebar</a:t>
            </a:r>
            <a:endParaRPr lang="en-US" sz="3600" dirty="0"/>
          </a:p>
        </p:txBody>
      </p:sp>
      <p:sp>
        <p:nvSpPr>
          <p:cNvPr id="3" name="frame 13-git"/>
          <p:cNvSpPr/>
          <p:nvPr/>
        </p:nvSpPr>
        <p:spPr>
          <a:xfrm>
            <a:off x="420624" y="1289304"/>
            <a:ext cx="7662672" cy="460578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3-git" descr="git">    </p:cNvPr>
          <p:cNvPicPr>
            <a:picLocks noChangeAspect="1"/>
          </p:cNvPicPr>
          <p:nvPr/>
        </p:nvPicPr>
        <p:blipFill>
          <a:blip r:embed="rId1"/>
          <a:stretch>
            <a:fillRect/>
          </a:stretch>
        </p:blipFill>
        <p:spPr>
          <a:xfrm>
            <a:off x="457200" y="1325880"/>
            <a:ext cx="7589520" cy="4532630"/>
          </a:xfrm>
          <a:prstGeom prst="rect">
            <a:avLst/>
          </a:prstGeom>
        </p:spPr>
      </p:pic>
      <p:sp>
        <p:nvSpPr>
          <p:cNvPr id="5" name="badge 1"/>
          <p:cNvSpPr/>
          <p:nvPr/>
        </p:nvSpPr>
        <p:spPr>
          <a:xfrm>
            <a:off x="8458200" y="1389888"/>
            <a:ext cx="329184" cy="329184"/>
          </a:xfrm>
          <a:prstGeom prst="ellipse">
            <a:avLst/>
          </a:prstGeom>
          <a:solidFill>
            <a:schemeClr val="accent1"/>
          </a:solidFill>
          <a:ln/>
        </p:spPr>
      </p:sp>
      <p:sp>
        <p:nvSpPr>
          <p:cNvPr id="6" name="badge 1 label"/>
          <p:cNvSpPr txBox="1"/>
          <p:nvPr/>
        </p:nvSpPr>
        <p:spPr>
          <a:xfrm>
            <a:off x="845820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8915400" y="1371600"/>
            <a:ext cx="2819095" cy="694944"/>
          </a:xfrm>
          <a:prstGeom prst="rect">
            <a:avLst/>
          </a:prstGeom>
          <a:noFill/>
          <a:ln/>
        </p:spPr>
        <p:txBody>
          <a:bodyPr wrap="square" lIns="0" tIns="0" rIns="0" bIns="0" rtlCol="0" anchor="t"/>
          <a:lstStyle/>
          <a:p>
            <a:pPr indent="0" marL="0">
              <a:buNone/>
            </a:pPr>
            <a:r>
              <a:rPr lang="en-US" sz="1400" b="1" dirty="0">
                <a:solidFill>
                  <a:schemeClr val="bg1"/>
                </a:solidFill>
              </a:rPr>
              <a:t>Branch</a:t>
            </a:r>
            <a:pPr indent="0" marL="0">
              <a:buNone/>
            </a:pPr>
            <a:r>
              <a:rPr lang="en-US" sz="1400" dirty="0">
                <a:solidFill>
                  <a:schemeClr val="bg2"/>
                </a:solidFill>
              </a:rPr>
              <a:t>  switch or create</a:t>
            </a:r>
            <a:endParaRPr lang="en-US" sz="1400" dirty="0"/>
          </a:p>
        </p:txBody>
      </p:sp>
      <p:sp>
        <p:nvSpPr>
          <p:cNvPr id="8" name="badge 2"/>
          <p:cNvSpPr/>
          <p:nvPr/>
        </p:nvSpPr>
        <p:spPr>
          <a:xfrm>
            <a:off x="8458200" y="2121408"/>
            <a:ext cx="329184" cy="329184"/>
          </a:xfrm>
          <a:prstGeom prst="ellipse">
            <a:avLst/>
          </a:prstGeom>
          <a:solidFill>
            <a:schemeClr val="accent1"/>
          </a:solidFill>
          <a:ln/>
        </p:spPr>
      </p:sp>
      <p:sp>
        <p:nvSpPr>
          <p:cNvPr id="9" name="badge 2 label"/>
          <p:cNvSpPr txBox="1"/>
          <p:nvPr/>
        </p:nvSpPr>
        <p:spPr>
          <a:xfrm>
            <a:off x="8458200" y="21214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8915400" y="2103120"/>
            <a:ext cx="2819095" cy="694944"/>
          </a:xfrm>
          <a:prstGeom prst="rect">
            <a:avLst/>
          </a:prstGeom>
          <a:noFill/>
          <a:ln/>
        </p:spPr>
        <p:txBody>
          <a:bodyPr wrap="square" lIns="0" tIns="0" rIns="0" bIns="0" rtlCol="0" anchor="t"/>
          <a:lstStyle/>
          <a:p>
            <a:pPr indent="0" marL="0">
              <a:buNone/>
            </a:pPr>
            <a:r>
              <a:rPr lang="en-US" sz="1400" b="1" dirty="0">
                <a:solidFill>
                  <a:schemeClr val="bg1"/>
                </a:solidFill>
              </a:rPr>
              <a:t>Commit</a:t>
            </a:r>
            <a:pPr indent="0" marL="0">
              <a:buNone/>
            </a:pPr>
            <a:r>
              <a:rPr lang="en-US" sz="1400" dirty="0">
                <a:solidFill>
                  <a:schemeClr val="bg2"/>
                </a:solidFill>
              </a:rPr>
              <a:t>  Ctrl+Enter; offers to stage all</a:t>
            </a:r>
            <a:endParaRPr lang="en-US" sz="1400" dirty="0"/>
          </a:p>
        </p:txBody>
      </p:sp>
      <p:sp>
        <p:nvSpPr>
          <p:cNvPr id="11" name="badge 3"/>
          <p:cNvSpPr/>
          <p:nvPr/>
        </p:nvSpPr>
        <p:spPr>
          <a:xfrm>
            <a:off x="8458200" y="2852928"/>
            <a:ext cx="329184" cy="329184"/>
          </a:xfrm>
          <a:prstGeom prst="ellipse">
            <a:avLst/>
          </a:prstGeom>
          <a:solidFill>
            <a:schemeClr val="accent1"/>
          </a:solidFill>
          <a:ln/>
        </p:spPr>
      </p:sp>
      <p:sp>
        <p:nvSpPr>
          <p:cNvPr id="12" name="badge 3 label"/>
          <p:cNvSpPr txBox="1"/>
          <p:nvPr/>
        </p:nvSpPr>
        <p:spPr>
          <a:xfrm>
            <a:off x="8458200" y="28529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8915400" y="2834640"/>
            <a:ext cx="2819095" cy="694944"/>
          </a:xfrm>
          <a:prstGeom prst="rect">
            <a:avLst/>
          </a:prstGeom>
          <a:noFill/>
          <a:ln/>
        </p:spPr>
        <p:txBody>
          <a:bodyPr wrap="square" lIns="0" tIns="0" rIns="0" bIns="0" rtlCol="0" anchor="t"/>
          <a:lstStyle/>
          <a:p>
            <a:pPr indent="0" marL="0">
              <a:buNone/>
            </a:pPr>
            <a:r>
              <a:rPr lang="en-US" sz="1400" b="1" dirty="0">
                <a:solidFill>
                  <a:schemeClr val="bg1"/>
                </a:solidFill>
              </a:rPr>
              <a:t>Changes</a:t>
            </a:r>
            <a:pPr indent="0" marL="0">
              <a:buNone/>
            </a:pPr>
            <a:r>
              <a:rPr lang="en-US" sz="1400" dirty="0">
                <a:solidFill>
                  <a:schemeClr val="bg2"/>
                </a:solidFill>
              </a:rPr>
              <a:t>  open · discard · stage</a:t>
            </a:r>
            <a:endParaRPr lang="en-US" sz="1400" dirty="0"/>
          </a:p>
        </p:txBody>
      </p:sp>
      <p:sp>
        <p:nvSpPr>
          <p:cNvPr id="14" name="badge 4"/>
          <p:cNvSpPr/>
          <p:nvPr/>
        </p:nvSpPr>
        <p:spPr>
          <a:xfrm>
            <a:off x="8458200" y="3584448"/>
            <a:ext cx="329184" cy="329184"/>
          </a:xfrm>
          <a:prstGeom prst="ellipse">
            <a:avLst/>
          </a:prstGeom>
          <a:solidFill>
            <a:schemeClr val="accent1"/>
          </a:solidFill>
          <a:ln/>
        </p:spPr>
      </p:sp>
      <p:sp>
        <p:nvSpPr>
          <p:cNvPr id="15" name="badge 4 label"/>
          <p:cNvSpPr txBox="1"/>
          <p:nvPr/>
        </p:nvSpPr>
        <p:spPr>
          <a:xfrm>
            <a:off x="8458200" y="35844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8915400" y="3566160"/>
            <a:ext cx="2819095" cy="694944"/>
          </a:xfrm>
          <a:prstGeom prst="rect">
            <a:avLst/>
          </a:prstGeom>
          <a:noFill/>
          <a:ln/>
        </p:spPr>
        <p:txBody>
          <a:bodyPr wrap="square" lIns="0" tIns="0" rIns="0" bIns="0" rtlCol="0" anchor="t"/>
          <a:lstStyle/>
          <a:p>
            <a:pPr indent="0" marL="0">
              <a:buNone/>
            </a:pPr>
            <a:r>
              <a:rPr lang="en-US" sz="1400" b="1" dirty="0">
                <a:solidFill>
                  <a:schemeClr val="bg1"/>
                </a:solidFill>
              </a:rPr>
              <a:t>Commits</a:t>
            </a:r>
            <a:pPr indent="0" marL="0">
              <a:buNone/>
            </a:pPr>
            <a:r>
              <a:rPr lang="en-US" sz="1400" dirty="0">
                <a:solidFill>
                  <a:schemeClr val="bg2"/>
                </a:solidFill>
              </a:rPr>
              <a:t>  recent history</a:t>
            </a:r>
            <a:endParaRPr lang="en-US" sz="1400" dirty="0"/>
          </a:p>
        </p:txBody>
      </p:sp>
      <p:sp>
        <p:nvSpPr>
          <p:cNvPr id="17" name="badge 5"/>
          <p:cNvSpPr/>
          <p:nvPr/>
        </p:nvSpPr>
        <p:spPr>
          <a:xfrm>
            <a:off x="8458200" y="4315968"/>
            <a:ext cx="329184" cy="329184"/>
          </a:xfrm>
          <a:prstGeom prst="ellipse">
            <a:avLst/>
          </a:prstGeom>
          <a:solidFill>
            <a:schemeClr val="accent1"/>
          </a:solidFill>
          <a:ln/>
        </p:spPr>
      </p:sp>
      <p:sp>
        <p:nvSpPr>
          <p:cNvPr id="18" name="badge 5 label"/>
          <p:cNvSpPr txBox="1"/>
          <p:nvPr/>
        </p:nvSpPr>
        <p:spPr>
          <a:xfrm>
            <a:off x="8458200" y="43159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9" name="legend 5"/>
          <p:cNvSpPr txBox="1"/>
          <p:nvPr/>
        </p:nvSpPr>
        <p:spPr>
          <a:xfrm>
            <a:off x="8915400" y="4297680"/>
            <a:ext cx="2819095" cy="694944"/>
          </a:xfrm>
          <a:prstGeom prst="rect">
            <a:avLst/>
          </a:prstGeom>
          <a:noFill/>
          <a:ln/>
        </p:spPr>
        <p:txBody>
          <a:bodyPr wrap="square" lIns="0" tIns="0" rIns="0" bIns="0" rtlCol="0" anchor="t"/>
          <a:lstStyle/>
          <a:p>
            <a:pPr indent="0" marL="0">
              <a:buNone/>
            </a:pPr>
            <a:r>
              <a:rPr lang="en-US" sz="1400" b="1" dirty="0">
                <a:solidFill>
                  <a:schemeClr val="bg1"/>
                </a:solidFill>
              </a:rPr>
              <a:t>A change opens its diff</a:t>
            </a:r>
            <a:pPr indent="0" marL="0">
              <a:buNone/>
            </a:pPr>
            <a:r>
              <a:rPr lang="en-US" sz="1400" dirty="0">
                <a:solidFill>
                  <a:schemeClr val="bg2"/>
                </a:solidFill>
              </a:rPr>
              <a:t>  in a tab</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Disk Usage</a:t>
            </a:r>
            <a:endParaRPr lang="en-US" sz="3600" dirty="0"/>
          </a:p>
        </p:txBody>
      </p:sp>
      <p:sp>
        <p:nvSpPr>
          <p:cNvPr id="3" name="frame 14-disk-usage"/>
          <p:cNvSpPr/>
          <p:nvPr/>
        </p:nvSpPr>
        <p:spPr>
          <a:xfrm>
            <a:off x="4108399" y="1289304"/>
            <a:ext cx="7662672" cy="460578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4-disk-usage" descr="disk usage">    </p:cNvPr>
          <p:cNvPicPr>
            <a:picLocks noChangeAspect="1"/>
          </p:cNvPicPr>
          <p:nvPr/>
        </p:nvPicPr>
        <p:blipFill>
          <a:blip r:embed="rId1"/>
          <a:stretch>
            <a:fillRect/>
          </a:stretch>
        </p:blipFill>
        <p:spPr>
          <a:xfrm>
            <a:off x="4144975" y="1325880"/>
            <a:ext cx="7589520" cy="4532630"/>
          </a:xfrm>
          <a:prstGeom prst="rect">
            <a:avLst/>
          </a:prstGeom>
        </p:spPr>
      </p:pic>
      <p:sp>
        <p:nvSpPr>
          <p:cNvPr id="5" name="badge 1"/>
          <p:cNvSpPr/>
          <p:nvPr/>
        </p:nvSpPr>
        <p:spPr>
          <a:xfrm>
            <a:off x="457200" y="1389888"/>
            <a:ext cx="329184" cy="329184"/>
          </a:xfrm>
          <a:prstGeom prst="ellipse">
            <a:avLst/>
          </a:prstGeom>
          <a:solidFill>
            <a:schemeClr val="accent1"/>
          </a:solidFill>
          <a:ln/>
        </p:spPr>
      </p:sp>
      <p:sp>
        <p:nvSpPr>
          <p:cNvPr id="6" name="badge 1 label"/>
          <p:cNvSpPr txBox="1"/>
          <p:nvPr/>
        </p:nvSpPr>
        <p:spPr>
          <a:xfrm>
            <a:off x="457200" y="138988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7" name="legend 1"/>
          <p:cNvSpPr txBox="1"/>
          <p:nvPr/>
        </p:nvSpPr>
        <p:spPr>
          <a:xfrm>
            <a:off x="914400" y="1371600"/>
            <a:ext cx="2819095" cy="694944"/>
          </a:xfrm>
          <a:prstGeom prst="rect">
            <a:avLst/>
          </a:prstGeom>
          <a:noFill/>
          <a:ln/>
        </p:spPr>
        <p:txBody>
          <a:bodyPr wrap="square" lIns="0" tIns="0" rIns="0" bIns="0" rtlCol="0" anchor="t"/>
          <a:lstStyle/>
          <a:p>
            <a:pPr indent="0" marL="0">
              <a:buNone/>
            </a:pPr>
            <a:r>
              <a:rPr lang="en-US" sz="1400" b="1" dirty="0">
                <a:solidFill>
                  <a:schemeClr val="bg1"/>
                </a:solidFill>
              </a:rPr>
              <a:t>Pie · table · rectangles</a:t>
            </a:r>
            <a:endParaRPr lang="en-US" sz="1400" dirty="0"/>
          </a:p>
        </p:txBody>
      </p:sp>
      <p:sp>
        <p:nvSpPr>
          <p:cNvPr id="8" name="badge 2"/>
          <p:cNvSpPr/>
          <p:nvPr/>
        </p:nvSpPr>
        <p:spPr>
          <a:xfrm>
            <a:off x="457200" y="2121408"/>
            <a:ext cx="329184" cy="329184"/>
          </a:xfrm>
          <a:prstGeom prst="ellipse">
            <a:avLst/>
          </a:prstGeom>
          <a:solidFill>
            <a:schemeClr val="accent1"/>
          </a:solidFill>
          <a:ln/>
        </p:spPr>
      </p:sp>
      <p:sp>
        <p:nvSpPr>
          <p:cNvPr id="9" name="badge 2 label"/>
          <p:cNvSpPr txBox="1"/>
          <p:nvPr/>
        </p:nvSpPr>
        <p:spPr>
          <a:xfrm>
            <a:off x="457200" y="212140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0" name="legend 2"/>
          <p:cNvSpPr txBox="1"/>
          <p:nvPr/>
        </p:nvSpPr>
        <p:spPr>
          <a:xfrm>
            <a:off x="914400" y="2103120"/>
            <a:ext cx="2819095" cy="694944"/>
          </a:xfrm>
          <a:prstGeom prst="rect">
            <a:avLst/>
          </a:prstGeom>
          <a:noFill/>
          <a:ln/>
        </p:spPr>
        <p:txBody>
          <a:bodyPr wrap="square" lIns="0" tIns="0" rIns="0" bIns="0" rtlCol="0" anchor="t"/>
          <a:lstStyle/>
          <a:p>
            <a:pPr indent="0" marL="0">
              <a:buNone/>
            </a:pPr>
            <a:r>
              <a:rPr lang="en-US" sz="1400" b="1" dirty="0">
                <a:solidFill>
                  <a:schemeClr val="bg1"/>
                </a:solidFill>
              </a:rPr>
              <a:t>How deep</a:t>
            </a:r>
            <a:pPr indent="0" marL="0">
              <a:buNone/>
            </a:pPr>
            <a:r>
              <a:rPr lang="en-US" sz="1400" dirty="0">
                <a:solidFill>
                  <a:schemeClr val="bg2"/>
                </a:solidFill>
              </a:rPr>
              <a:t>  1–8 levels</a:t>
            </a:r>
            <a:endParaRPr lang="en-US" sz="1400" dirty="0"/>
          </a:p>
        </p:txBody>
      </p:sp>
      <p:sp>
        <p:nvSpPr>
          <p:cNvPr id="11" name="badge 3"/>
          <p:cNvSpPr/>
          <p:nvPr/>
        </p:nvSpPr>
        <p:spPr>
          <a:xfrm>
            <a:off x="457200" y="2852928"/>
            <a:ext cx="329184" cy="329184"/>
          </a:xfrm>
          <a:prstGeom prst="ellipse">
            <a:avLst/>
          </a:prstGeom>
          <a:solidFill>
            <a:schemeClr val="accent1"/>
          </a:solidFill>
          <a:ln/>
        </p:spPr>
      </p:sp>
      <p:sp>
        <p:nvSpPr>
          <p:cNvPr id="12" name="badge 3 label"/>
          <p:cNvSpPr txBox="1"/>
          <p:nvPr/>
        </p:nvSpPr>
        <p:spPr>
          <a:xfrm>
            <a:off x="457200" y="285292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3" name="legend 3"/>
          <p:cNvSpPr txBox="1"/>
          <p:nvPr/>
        </p:nvSpPr>
        <p:spPr>
          <a:xfrm>
            <a:off x="914400" y="2834640"/>
            <a:ext cx="2819095" cy="694944"/>
          </a:xfrm>
          <a:prstGeom prst="rect">
            <a:avLst/>
          </a:prstGeom>
          <a:noFill/>
          <a:ln/>
        </p:spPr>
        <p:txBody>
          <a:bodyPr wrap="square" lIns="0" tIns="0" rIns="0" bIns="0" rtlCol="0" anchor="t"/>
          <a:lstStyle/>
          <a:p>
            <a:pPr indent="0" marL="0">
              <a:buNone/>
            </a:pPr>
            <a:r>
              <a:rPr lang="en-US" sz="1400" b="1" dirty="0">
                <a:solidFill>
                  <a:schemeClr val="bg1"/>
                </a:solidFill>
              </a:rPr>
              <a:t>Scan again · export CSV</a:t>
            </a:r>
            <a:endParaRPr lang="en-US" sz="1400" dirty="0"/>
          </a:p>
        </p:txBody>
      </p:sp>
      <p:sp>
        <p:nvSpPr>
          <p:cNvPr id="14" name="badge 4"/>
          <p:cNvSpPr/>
          <p:nvPr/>
        </p:nvSpPr>
        <p:spPr>
          <a:xfrm>
            <a:off x="457200" y="3584448"/>
            <a:ext cx="329184" cy="329184"/>
          </a:xfrm>
          <a:prstGeom prst="ellipse">
            <a:avLst/>
          </a:prstGeom>
          <a:solidFill>
            <a:schemeClr val="accent1"/>
          </a:solidFill>
          <a:ln/>
        </p:spPr>
      </p:sp>
      <p:sp>
        <p:nvSpPr>
          <p:cNvPr id="15" name="badge 4 label"/>
          <p:cNvSpPr txBox="1"/>
          <p:nvPr/>
        </p:nvSpPr>
        <p:spPr>
          <a:xfrm>
            <a:off x="457200" y="358444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legend 4"/>
          <p:cNvSpPr txBox="1"/>
          <p:nvPr/>
        </p:nvSpPr>
        <p:spPr>
          <a:xfrm>
            <a:off x="914400" y="3566160"/>
            <a:ext cx="2819095" cy="694944"/>
          </a:xfrm>
          <a:prstGeom prst="rect">
            <a:avLst/>
          </a:prstGeom>
          <a:noFill/>
          <a:ln/>
        </p:spPr>
        <p:txBody>
          <a:bodyPr wrap="square" lIns="0" tIns="0" rIns="0" bIns="0" rtlCol="0" anchor="t"/>
          <a:lstStyle/>
          <a:p>
            <a:pPr indent="0" marL="0">
              <a:buNone/>
            </a:pPr>
            <a:r>
              <a:rPr lang="en-US" sz="1400" b="1" dirty="0">
                <a:solidFill>
                  <a:schemeClr val="bg1"/>
                </a:solidFill>
              </a:rPr>
              <a:t>Click to go into a folder</a:t>
            </a:r>
            <a:pPr indent="0" marL="0">
              <a:buNone/>
            </a:pPr>
            <a:r>
              <a:rPr lang="en-US" sz="1400" dirty="0">
                <a:solidFill>
                  <a:schemeClr val="bg2"/>
                </a:solidFill>
              </a:rPr>
              <a:t>  Escape stops a scan</a:t>
            </a:r>
            <a:endParaRPr lang="en-US" sz="1400" dirty="0"/>
          </a:p>
        </p:txBody>
      </p:sp>
      <p:sp>
        <p:nvSpPr>
          <p:cNvPr id="17" name="badge 5"/>
          <p:cNvSpPr/>
          <p:nvPr/>
        </p:nvSpPr>
        <p:spPr>
          <a:xfrm>
            <a:off x="457200" y="4315968"/>
            <a:ext cx="329184" cy="329184"/>
          </a:xfrm>
          <a:prstGeom prst="ellipse">
            <a:avLst/>
          </a:prstGeom>
          <a:solidFill>
            <a:schemeClr val="accent1"/>
          </a:solidFill>
          <a:ln/>
        </p:spPr>
      </p:sp>
      <p:sp>
        <p:nvSpPr>
          <p:cNvPr id="18" name="badge 5 label"/>
          <p:cNvSpPr txBox="1"/>
          <p:nvPr/>
        </p:nvSpPr>
        <p:spPr>
          <a:xfrm>
            <a:off x="457200" y="4315968"/>
            <a:ext cx="329184" cy="329184"/>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9" name="legend 5"/>
          <p:cNvSpPr txBox="1"/>
          <p:nvPr/>
        </p:nvSpPr>
        <p:spPr>
          <a:xfrm>
            <a:off x="914400" y="4297680"/>
            <a:ext cx="2819095" cy="694944"/>
          </a:xfrm>
          <a:prstGeom prst="rect">
            <a:avLst/>
          </a:prstGeom>
          <a:noFill/>
          <a:ln/>
        </p:spPr>
        <p:txBody>
          <a:bodyPr wrap="square" lIns="0" tIns="0" rIns="0" bIns="0" rtlCol="0" anchor="t"/>
          <a:lstStyle/>
          <a:p>
            <a:pPr indent="0" marL="0">
              <a:buNone/>
            </a:pPr>
            <a:r>
              <a:rPr lang="en-US" sz="1400" b="1" dirty="0">
                <a:solidFill>
                  <a:schemeClr val="bg1"/>
                </a:solidFill>
              </a:rPr>
              <a:t>Disk Usage</a:t>
            </a:r>
            <a:pPr indent="0" marL="0">
              <a:buNone/>
            </a:pPr>
            <a:r>
              <a:rPr lang="en-US" sz="1400" dirty="0">
                <a:solidFill>
                  <a:schemeClr val="bg2"/>
                </a:solidFill>
              </a:rPr>
              <a:t>  or press a folder’s Size</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Task Manager</a:t>
            </a:r>
            <a:endParaRPr lang="en-US" sz="3600" dirty="0"/>
          </a:p>
        </p:txBody>
      </p:sp>
      <p:sp>
        <p:nvSpPr>
          <p:cNvPr id="3" name="frame 15-task-manager"/>
          <p:cNvSpPr/>
          <p:nvPr/>
        </p:nvSpPr>
        <p:spPr>
          <a:xfrm>
            <a:off x="420624" y="1289304"/>
            <a:ext cx="5483200" cy="3304153"/>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5-task-manager" descr="task manager">    </p:cNvPr>
          <p:cNvPicPr>
            <a:picLocks noChangeAspect="1"/>
          </p:cNvPicPr>
          <p:nvPr/>
        </p:nvPicPr>
        <p:blipFill>
          <a:blip r:embed="rId1"/>
          <a:stretch>
            <a:fillRect/>
          </a:stretch>
        </p:blipFill>
        <p:spPr>
          <a:xfrm>
            <a:off x="457200" y="1325880"/>
            <a:ext cx="5410048" cy="3231001"/>
          </a:xfrm>
          <a:prstGeom prst="rect">
            <a:avLst/>
          </a:prstGeom>
        </p:spPr>
      </p:pic>
      <p:sp>
        <p:nvSpPr>
          <p:cNvPr id="5" name="frame 16-performance"/>
          <p:cNvSpPr/>
          <p:nvPr/>
        </p:nvSpPr>
        <p:spPr>
          <a:xfrm>
            <a:off x="6287872" y="1289304"/>
            <a:ext cx="5483200" cy="3304153"/>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6" name="shot 16-performance" descr="performance">    </p:cNvPr>
          <p:cNvPicPr>
            <a:picLocks noChangeAspect="1"/>
          </p:cNvPicPr>
          <p:nvPr/>
        </p:nvPicPr>
        <p:blipFill>
          <a:blip r:embed="rId2"/>
          <a:stretch>
            <a:fillRect/>
          </a:stretch>
        </p:blipFill>
        <p:spPr>
          <a:xfrm>
            <a:off x="6324448" y="1325880"/>
            <a:ext cx="5410048" cy="3231001"/>
          </a:xfrm>
          <a:prstGeom prst="rect">
            <a:avLst/>
          </a:prstGeom>
        </p:spPr>
      </p:pic>
      <p:sp>
        <p:nvSpPr>
          <p:cNvPr id="7" name="Text 3"/>
          <p:cNvSpPr txBox="1"/>
          <p:nvPr/>
        </p:nvSpPr>
        <p:spPr>
          <a:xfrm>
            <a:off x="457200" y="4831201"/>
            <a:ext cx="5410048" cy="1523879"/>
          </a:xfrm>
          <a:prstGeom prst="rect">
            <a:avLst/>
          </a:prstGeom>
          <a:noFill/>
          <a:ln/>
        </p:spPr>
        <p:txBody>
          <a:bodyPr wrap="square" lIns="0" tIns="0" rIns="0" bIns="0" rtlCol="0" anchor="t"/>
          <a:lstStyle/>
          <a:p>
            <a:pPr indent="0" marL="0">
              <a:buNone/>
            </a:pPr>
            <a:r>
              <a:rPr lang="en-US" sz="1500" b="1" dirty="0">
                <a:solidFill>
                  <a:schemeClr val="bg1"/>
                </a:solidFill>
              </a:rPr>
              <a:t>Processes</a:t>
            </a:r>
            <a:endParaRPr lang="en-US" sz="1500" dirty="0"/>
          </a:p>
          <a:p>
            <a:pPr indent="0" marL="0">
              <a:buNone/>
            </a:pPr>
            <a:r>
              <a:rPr lang="en-US" sz="1500" dirty="0">
                <a:solidFill>
                  <a:schemeClr val="bg2"/>
                </a:solidFill>
              </a:rPr>
              <a:t>Grouped by app and shaded by load. Delete ends a task, Shift+Delete the whole tree — both ask first.</a:t>
            </a:r>
            <a:endParaRPr lang="en-US" sz="1500" dirty="0"/>
          </a:p>
        </p:txBody>
      </p:sp>
      <p:sp>
        <p:nvSpPr>
          <p:cNvPr id="8" name="Text 4"/>
          <p:cNvSpPr txBox="1"/>
          <p:nvPr/>
        </p:nvSpPr>
        <p:spPr>
          <a:xfrm>
            <a:off x="6324448" y="4831201"/>
            <a:ext cx="5410048" cy="1523879"/>
          </a:xfrm>
          <a:prstGeom prst="rect">
            <a:avLst/>
          </a:prstGeom>
          <a:noFill/>
          <a:ln/>
        </p:spPr>
        <p:txBody>
          <a:bodyPr wrap="square" lIns="0" tIns="0" rIns="0" bIns="0" rtlCol="0" anchor="t"/>
          <a:lstStyle/>
          <a:p>
            <a:pPr indent="0" marL="0">
              <a:buNone/>
            </a:pPr>
            <a:r>
              <a:rPr lang="en-US" sz="1500" b="1" dirty="0">
                <a:solidFill>
                  <a:schemeClr val="bg1"/>
                </a:solidFill>
              </a:rPr>
              <a:t>Graph</a:t>
            </a:r>
            <a:endParaRPr lang="en-US" sz="1500" dirty="0"/>
          </a:p>
          <a:p>
            <a:pPr indent="0" marL="0">
              <a:buNone/>
            </a:pPr>
            <a:r>
              <a:rPr lang="en-US" sz="1500" dirty="0">
                <a:solidFill>
                  <a:schemeClr val="bg2"/>
                </a:solidFill>
              </a:rPr>
              <a:t>CPU, memory, disk and each network adapter, over 60 seconds or 10 minutes.</a:t>
            </a:r>
            <a:endParaRPr lang="en-US" sz="15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Make it yours</a:t>
            </a:r>
            <a:endParaRPr lang="en-US" sz="3600" dirty="0"/>
          </a:p>
        </p:txBody>
      </p:sp>
      <p:sp>
        <p:nvSpPr>
          <p:cNvPr id="3" name="frame 18-settings"/>
          <p:cNvSpPr/>
          <p:nvPr/>
        </p:nvSpPr>
        <p:spPr>
          <a:xfrm>
            <a:off x="420624" y="1754703"/>
            <a:ext cx="3588410" cy="2533833"/>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4" name="shot 18-settings" descr="settings">    </p:cNvPr>
          <p:cNvPicPr>
            <a:picLocks noChangeAspect="1"/>
          </p:cNvPicPr>
          <p:nvPr/>
        </p:nvPicPr>
        <p:blipFill>
          <a:blip r:embed="rId1"/>
          <a:stretch>
            <a:fillRect/>
          </a:stretch>
        </p:blipFill>
        <p:spPr>
          <a:xfrm>
            <a:off x="457200" y="1791279"/>
            <a:ext cx="3515258" cy="2460681"/>
          </a:xfrm>
          <a:prstGeom prst="rect">
            <a:avLst/>
          </a:prstGeom>
        </p:spPr>
      </p:pic>
      <p:sp>
        <p:nvSpPr>
          <p:cNvPr id="5" name="Text 2"/>
          <p:cNvSpPr txBox="1"/>
          <p:nvPr/>
        </p:nvSpPr>
        <p:spPr>
          <a:xfrm>
            <a:off x="457200" y="4572000"/>
            <a:ext cx="3515258" cy="411480"/>
          </a:xfrm>
          <a:prstGeom prst="rect">
            <a:avLst/>
          </a:prstGeom>
          <a:noFill/>
          <a:ln/>
        </p:spPr>
        <p:txBody>
          <a:bodyPr wrap="square" lIns="0" tIns="0" rIns="0" bIns="0" rtlCol="0" anchor="ctr"/>
          <a:lstStyle/>
          <a:p>
            <a:pPr indent="0" marL="0">
              <a:buNone/>
            </a:pPr>
            <a:r>
              <a:rPr lang="en-US" sz="1800" b="1" dirty="0">
                <a:solidFill>
                  <a:schemeClr val="bg1"/>
                </a:solidFill>
              </a:rPr>
              <a:t>Settings — Ctrl+,</a:t>
            </a:r>
            <a:endParaRPr lang="en-US" sz="1800" dirty="0"/>
          </a:p>
        </p:txBody>
      </p:sp>
      <p:sp>
        <p:nvSpPr>
          <p:cNvPr id="6" name="Text 3"/>
          <p:cNvSpPr txBox="1"/>
          <p:nvPr/>
        </p:nvSpPr>
        <p:spPr>
          <a:xfrm>
            <a:off x="457200" y="4983480"/>
            <a:ext cx="3515258" cy="640080"/>
          </a:xfrm>
          <a:prstGeom prst="rect">
            <a:avLst/>
          </a:prstGeom>
          <a:noFill/>
          <a:ln/>
        </p:spPr>
        <p:txBody>
          <a:bodyPr wrap="square" lIns="0" tIns="0" rIns="0" bIns="0" rtlCol="0" anchor="t"/>
          <a:lstStyle/>
          <a:p>
            <a:pPr indent="0" marL="0">
              <a:buNone/>
            </a:pPr>
            <a:r>
              <a:rPr lang="en-US" sz="1400" dirty="0">
                <a:solidFill>
                  <a:schemeClr val="bg2"/>
                </a:solidFill>
              </a:rPr>
              <a:t>Theme, sidebars on either side, and rebinding any key</a:t>
            </a:r>
            <a:endParaRPr lang="en-US" sz="1400" dirty="0"/>
          </a:p>
        </p:txBody>
      </p:sp>
      <p:sp>
        <p:nvSpPr>
          <p:cNvPr id="7" name="frame 17-help"/>
          <p:cNvSpPr/>
          <p:nvPr/>
        </p:nvSpPr>
        <p:spPr>
          <a:xfrm>
            <a:off x="4301642" y="1754703"/>
            <a:ext cx="3588410" cy="2533833"/>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8" name="shot 17-help" descr="help">    </p:cNvPr>
          <p:cNvPicPr>
            <a:picLocks noChangeAspect="1"/>
          </p:cNvPicPr>
          <p:nvPr/>
        </p:nvPicPr>
        <p:blipFill>
          <a:blip r:embed="rId2"/>
          <a:stretch>
            <a:fillRect/>
          </a:stretch>
        </p:blipFill>
        <p:spPr>
          <a:xfrm>
            <a:off x="4338218" y="1791279"/>
            <a:ext cx="3515258" cy="2460681"/>
          </a:xfrm>
          <a:prstGeom prst="rect">
            <a:avLst/>
          </a:prstGeom>
        </p:spPr>
      </p:pic>
      <p:sp>
        <p:nvSpPr>
          <p:cNvPr id="9" name="Text 5"/>
          <p:cNvSpPr txBox="1"/>
          <p:nvPr/>
        </p:nvSpPr>
        <p:spPr>
          <a:xfrm>
            <a:off x="4338218" y="4572000"/>
            <a:ext cx="3515258" cy="411480"/>
          </a:xfrm>
          <a:prstGeom prst="rect">
            <a:avLst/>
          </a:prstGeom>
          <a:noFill/>
          <a:ln/>
        </p:spPr>
        <p:txBody>
          <a:bodyPr wrap="square" lIns="0" tIns="0" rIns="0" bIns="0" rtlCol="0" anchor="ctr"/>
          <a:lstStyle/>
          <a:p>
            <a:pPr indent="0" marL="0">
              <a:buNone/>
            </a:pPr>
            <a:r>
              <a:rPr lang="en-US" sz="1800" b="1" dirty="0">
                <a:solidFill>
                  <a:schemeClr val="bg1"/>
                </a:solidFill>
              </a:rPr>
              <a:t>Cheatsheet — F1</a:t>
            </a:r>
            <a:endParaRPr lang="en-US" sz="1800" dirty="0"/>
          </a:p>
        </p:txBody>
      </p:sp>
      <p:sp>
        <p:nvSpPr>
          <p:cNvPr id="10" name="Text 6"/>
          <p:cNvSpPr txBox="1"/>
          <p:nvPr/>
        </p:nvSpPr>
        <p:spPr>
          <a:xfrm>
            <a:off x="4338218" y="4983480"/>
            <a:ext cx="3515258" cy="640080"/>
          </a:xfrm>
          <a:prstGeom prst="rect">
            <a:avLst/>
          </a:prstGeom>
          <a:noFill/>
          <a:ln/>
        </p:spPr>
        <p:txBody>
          <a:bodyPr wrap="square" lIns="0" tIns="0" rIns="0" bIns="0" rtlCol="0" anchor="t"/>
          <a:lstStyle/>
          <a:p>
            <a:pPr indent="0" marL="0">
              <a:buNone/>
            </a:pPr>
            <a:r>
              <a:rPr lang="en-US" sz="1400" dirty="0">
                <a:solidFill>
                  <a:schemeClr val="bg2"/>
                </a:solidFill>
              </a:rPr>
              <a:t>Every key as it is bound now, searchable</a:t>
            </a:r>
            <a:endParaRPr lang="en-US" sz="1400" dirty="0"/>
          </a:p>
        </p:txBody>
      </p:sp>
      <p:sp>
        <p:nvSpPr>
          <p:cNvPr id="11" name="frame 24-light"/>
          <p:cNvSpPr/>
          <p:nvPr/>
        </p:nvSpPr>
        <p:spPr>
          <a:xfrm>
            <a:off x="8182661" y="2115994"/>
            <a:ext cx="3588410" cy="2172542"/>
          </a:xfrm>
          <a:prstGeom prst="rect">
            <a:avLst/>
          </a:prstGeom>
          <a:solidFill>
            <a:schemeClr val="accent4"/>
          </a:solidFill>
          <a:ln/>
          <a:effectLst>
            <a:outerShdw sx="100000" sy="100000" kx="0" ky="0" algn="bl" rotWithShape="0" blurRad="127000" dist="50800" dir="5400000">
              <a:srgbClr val="000000">
                <a:alpha val="45000"/>
              </a:srgbClr>
            </a:outerShdw>
          </a:effectLst>
        </p:spPr>
      </p:sp>
      <p:pic>
        <p:nvPicPr>
          <p:cNvPr id="12" name="shot 24-light" descr="light">    </p:cNvPr>
          <p:cNvPicPr>
            <a:picLocks noChangeAspect="1"/>
          </p:cNvPicPr>
          <p:nvPr/>
        </p:nvPicPr>
        <p:blipFill>
          <a:blip r:embed="rId3"/>
          <a:stretch>
            <a:fillRect/>
          </a:stretch>
        </p:blipFill>
        <p:spPr>
          <a:xfrm>
            <a:off x="8219237" y="2152570"/>
            <a:ext cx="3515258" cy="2099390"/>
          </a:xfrm>
          <a:prstGeom prst="rect">
            <a:avLst/>
          </a:prstGeom>
        </p:spPr>
      </p:pic>
      <p:sp>
        <p:nvSpPr>
          <p:cNvPr id="13" name="Text 8"/>
          <p:cNvSpPr txBox="1"/>
          <p:nvPr/>
        </p:nvSpPr>
        <p:spPr>
          <a:xfrm>
            <a:off x="8219237" y="4572000"/>
            <a:ext cx="3515258" cy="411480"/>
          </a:xfrm>
          <a:prstGeom prst="rect">
            <a:avLst/>
          </a:prstGeom>
          <a:noFill/>
          <a:ln/>
        </p:spPr>
        <p:txBody>
          <a:bodyPr wrap="square" lIns="0" tIns="0" rIns="0" bIns="0" rtlCol="0" anchor="ctr"/>
          <a:lstStyle/>
          <a:p>
            <a:pPr indent="0" marL="0">
              <a:buNone/>
            </a:pPr>
            <a:r>
              <a:rPr lang="en-US" sz="1800" b="1" dirty="0">
                <a:solidFill>
                  <a:schemeClr val="bg1"/>
                </a:solidFill>
              </a:rPr>
              <a:t>Light or dark</a:t>
            </a:r>
            <a:endParaRPr lang="en-US" sz="1800" dirty="0"/>
          </a:p>
        </p:txBody>
      </p:sp>
      <p:sp>
        <p:nvSpPr>
          <p:cNvPr id="14" name="Text 9"/>
          <p:cNvSpPr txBox="1"/>
          <p:nvPr/>
        </p:nvSpPr>
        <p:spPr>
          <a:xfrm>
            <a:off x="8219237" y="4983480"/>
            <a:ext cx="3515258" cy="640080"/>
          </a:xfrm>
          <a:prstGeom prst="rect">
            <a:avLst/>
          </a:prstGeom>
          <a:noFill/>
          <a:ln/>
        </p:spPr>
        <p:txBody>
          <a:bodyPr wrap="square" lIns="0" tIns="0" rIns="0" bIns="0" rtlCol="0" anchor="t"/>
          <a:lstStyle/>
          <a:p>
            <a:pPr indent="0" marL="0">
              <a:buNone/>
            </a:pPr>
            <a:r>
              <a:rPr lang="en-US" sz="1400" dirty="0">
                <a:solidFill>
                  <a:schemeClr val="bg2"/>
                </a:solidFill>
              </a:rPr>
              <a:t>The sun / moon button in the title bar</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731520"/>
          </a:xfrm>
          <a:prstGeom prst="rect">
            <a:avLst/>
          </a:prstGeom>
          <a:noFill/>
          <a:ln/>
        </p:spPr>
        <p:txBody>
          <a:bodyPr wrap="square" lIns="0" tIns="0" rIns="0" bIns="0" rtlCol="0" anchor="ctr"/>
          <a:lstStyle/>
          <a:p>
            <a:pPr indent="0" marL="0">
              <a:buNone/>
            </a:pPr>
            <a:r>
              <a:rPr lang="en-US" sz="3600" b="1" dirty="0">
                <a:solidFill>
                  <a:schemeClr val="bg1"/>
                </a:solidFill>
              </a:rPr>
              <a:t>In the desktop app</a:t>
            </a:r>
            <a:endParaRPr lang="en-US" sz="3600" dirty="0"/>
          </a:p>
        </p:txBody>
      </p:sp>
      <p:sp>
        <p:nvSpPr>
          <p:cNvPr id="3" name="desk The whole computer"/>
          <p:cNvSpPr/>
          <p:nvPr/>
        </p:nvSpPr>
        <p:spPr>
          <a:xfrm>
            <a:off x="457200" y="1417320"/>
            <a:ext cx="3545738" cy="2240280"/>
          </a:xfrm>
          <a:prstGeom prst="roundRect">
            <a:avLst>
              <a:gd name="adj" fmla="val 4898"/>
            </a:avLst>
          </a:prstGeom>
          <a:solidFill>
            <a:schemeClr val="accent3"/>
          </a:solidFill>
          <a:ln/>
        </p:spPr>
      </p:sp>
      <p:sp>
        <p:nvSpPr>
          <p:cNvPr id="4" name="desk The whole computer circle"/>
          <p:cNvSpPr/>
          <p:nvPr/>
        </p:nvSpPr>
        <p:spPr>
          <a:xfrm>
            <a:off x="777240" y="1737360"/>
            <a:ext cx="640080" cy="640080"/>
          </a:xfrm>
          <a:prstGeom prst="ellipse">
            <a:avLst/>
          </a:prstGeom>
          <a:solidFill>
            <a:schemeClr val="accent1"/>
          </a:solidFill>
          <a:ln/>
        </p:spPr>
      </p:sp>
      <p:pic>
        <p:nvPicPr>
          <p:cNvPr id="5" name="desk The whole computer icon" descr="The whole computer">    </p:cNvPr>
          <p:cNvPicPr>
            <a:picLocks noChangeAspect="1"/>
          </p:cNvPicPr>
          <p:nvPr/>
        </p:nvPicPr>
        <p:blipFill>
          <a:blip r:embed="rId1"/>
          <a:stretch>
            <a:fillRect/>
          </a:stretch>
        </p:blipFill>
        <p:spPr>
          <a:xfrm>
            <a:off x="923544" y="1883664"/>
            <a:ext cx="347472" cy="347472"/>
          </a:xfrm>
          <a:prstGeom prst="rect">
            <a:avLst/>
          </a:prstGeom>
        </p:spPr>
      </p:pic>
      <p:sp>
        <p:nvSpPr>
          <p:cNvPr id="6" name="Text 3"/>
          <p:cNvSpPr txBox="1"/>
          <p:nvPr/>
        </p:nvSpPr>
        <p:spPr>
          <a:xfrm>
            <a:off x="777240" y="256032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The whole computer</a:t>
            </a:r>
            <a:endParaRPr lang="en-US" sz="1900" dirty="0"/>
          </a:p>
        </p:txBody>
      </p:sp>
      <p:sp>
        <p:nvSpPr>
          <p:cNvPr id="7" name="Text 4"/>
          <p:cNvSpPr txBox="1"/>
          <p:nvPr/>
        </p:nvSpPr>
        <p:spPr>
          <a:xfrm>
            <a:off x="777240" y="2971800"/>
            <a:ext cx="2905658" cy="548640"/>
          </a:xfrm>
          <a:prstGeom prst="rect">
            <a:avLst/>
          </a:prstGeom>
          <a:noFill/>
          <a:ln/>
        </p:spPr>
        <p:txBody>
          <a:bodyPr wrap="square" lIns="0" tIns="0" rIns="0" bIns="0" rtlCol="0" anchor="t"/>
          <a:lstStyle/>
          <a:p>
            <a:pPr indent="0" marL="0">
              <a:buNone/>
            </a:pPr>
            <a:r>
              <a:rPr lang="en-US" sz="1400" dirty="0">
                <a:solidFill>
                  <a:schemeClr val="bg2"/>
                </a:solidFill>
              </a:rPr>
              <a:t>Every drive on Windows, / elsewhere</a:t>
            </a:r>
            <a:endParaRPr lang="en-US" sz="1400" dirty="0"/>
          </a:p>
        </p:txBody>
      </p:sp>
      <p:sp>
        <p:nvSpPr>
          <p:cNvPr id="8" name="desk Remote servers"/>
          <p:cNvSpPr/>
          <p:nvPr/>
        </p:nvSpPr>
        <p:spPr>
          <a:xfrm>
            <a:off x="4322978" y="1417320"/>
            <a:ext cx="3545738" cy="2240280"/>
          </a:xfrm>
          <a:prstGeom prst="roundRect">
            <a:avLst>
              <a:gd name="adj" fmla="val 4898"/>
            </a:avLst>
          </a:prstGeom>
          <a:solidFill>
            <a:schemeClr val="accent3"/>
          </a:solidFill>
          <a:ln/>
        </p:spPr>
      </p:sp>
      <p:sp>
        <p:nvSpPr>
          <p:cNvPr id="9" name="desk Remote servers circle"/>
          <p:cNvSpPr/>
          <p:nvPr/>
        </p:nvSpPr>
        <p:spPr>
          <a:xfrm>
            <a:off x="4643018" y="1737360"/>
            <a:ext cx="640080" cy="640080"/>
          </a:xfrm>
          <a:prstGeom prst="ellipse">
            <a:avLst/>
          </a:prstGeom>
          <a:solidFill>
            <a:schemeClr val="accent1"/>
          </a:solidFill>
          <a:ln/>
        </p:spPr>
      </p:sp>
      <p:pic>
        <p:nvPicPr>
          <p:cNvPr id="10" name="desk Remote servers icon" descr="Remote servers">    </p:cNvPr>
          <p:cNvPicPr>
            <a:picLocks noChangeAspect="1"/>
          </p:cNvPicPr>
          <p:nvPr/>
        </p:nvPicPr>
        <p:blipFill>
          <a:blip r:embed="rId2"/>
          <a:stretch>
            <a:fillRect/>
          </a:stretch>
        </p:blipFill>
        <p:spPr>
          <a:xfrm>
            <a:off x="4789322" y="1883664"/>
            <a:ext cx="347472" cy="347472"/>
          </a:xfrm>
          <a:prstGeom prst="rect">
            <a:avLst/>
          </a:prstGeom>
        </p:spPr>
      </p:pic>
      <p:sp>
        <p:nvSpPr>
          <p:cNvPr id="11" name="Text 7"/>
          <p:cNvSpPr txBox="1"/>
          <p:nvPr/>
        </p:nvSpPr>
        <p:spPr>
          <a:xfrm>
            <a:off x="4643018" y="256032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Remote servers</a:t>
            </a:r>
            <a:endParaRPr lang="en-US" sz="1900" dirty="0"/>
          </a:p>
        </p:txBody>
      </p:sp>
      <p:sp>
        <p:nvSpPr>
          <p:cNvPr id="12" name="Text 8"/>
          <p:cNvSpPr txBox="1"/>
          <p:nvPr/>
        </p:nvSpPr>
        <p:spPr>
          <a:xfrm>
            <a:off x="4643018" y="2971800"/>
            <a:ext cx="2905658" cy="548640"/>
          </a:xfrm>
          <a:prstGeom prst="rect">
            <a:avLst/>
          </a:prstGeom>
          <a:noFill/>
          <a:ln/>
        </p:spPr>
        <p:txBody>
          <a:bodyPr wrap="square" lIns="0" tIns="0" rIns="0" bIns="0" rtlCol="0" anchor="t"/>
          <a:lstStyle/>
          <a:p>
            <a:pPr indent="0" marL="0">
              <a:buNone/>
            </a:pPr>
            <a:r>
              <a:rPr lang="en-US" sz="1400" dirty="0">
                <a:solidFill>
                  <a:schemeClr val="bg2"/>
                </a:solidFill>
              </a:rPr>
              <a:t>Go › Remote Computer… — passwords never saved</a:t>
            </a:r>
            <a:endParaRPr lang="en-US" sz="1400" dirty="0"/>
          </a:p>
        </p:txBody>
      </p:sp>
      <p:sp>
        <p:nvSpPr>
          <p:cNvPr id="13" name="desk System integration"/>
          <p:cNvSpPr/>
          <p:nvPr/>
        </p:nvSpPr>
        <p:spPr>
          <a:xfrm>
            <a:off x="8188757" y="1417320"/>
            <a:ext cx="3545738" cy="2240280"/>
          </a:xfrm>
          <a:prstGeom prst="roundRect">
            <a:avLst>
              <a:gd name="adj" fmla="val 4898"/>
            </a:avLst>
          </a:prstGeom>
          <a:solidFill>
            <a:schemeClr val="accent3"/>
          </a:solidFill>
          <a:ln/>
        </p:spPr>
      </p:sp>
      <p:sp>
        <p:nvSpPr>
          <p:cNvPr id="14" name="desk System integration circle"/>
          <p:cNvSpPr/>
          <p:nvPr/>
        </p:nvSpPr>
        <p:spPr>
          <a:xfrm>
            <a:off x="8508797" y="1737360"/>
            <a:ext cx="640080" cy="640080"/>
          </a:xfrm>
          <a:prstGeom prst="ellipse">
            <a:avLst/>
          </a:prstGeom>
          <a:solidFill>
            <a:schemeClr val="accent1"/>
          </a:solidFill>
          <a:ln/>
        </p:spPr>
      </p:sp>
      <p:pic>
        <p:nvPicPr>
          <p:cNvPr id="15" name="desk System integration icon" descr="System integration">    </p:cNvPr>
          <p:cNvPicPr>
            <a:picLocks noChangeAspect="1"/>
          </p:cNvPicPr>
          <p:nvPr/>
        </p:nvPicPr>
        <p:blipFill>
          <a:blip r:embed="rId3"/>
          <a:stretch>
            <a:fillRect/>
          </a:stretch>
        </p:blipFill>
        <p:spPr>
          <a:xfrm>
            <a:off x="8655101" y="1883664"/>
            <a:ext cx="347472" cy="347472"/>
          </a:xfrm>
          <a:prstGeom prst="rect">
            <a:avLst/>
          </a:prstGeom>
        </p:spPr>
      </p:pic>
      <p:sp>
        <p:nvSpPr>
          <p:cNvPr id="16" name="Text 11"/>
          <p:cNvSpPr txBox="1"/>
          <p:nvPr/>
        </p:nvSpPr>
        <p:spPr>
          <a:xfrm>
            <a:off x="8508797" y="256032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System integration</a:t>
            </a:r>
            <a:endParaRPr lang="en-US" sz="1900" dirty="0"/>
          </a:p>
        </p:txBody>
      </p:sp>
      <p:sp>
        <p:nvSpPr>
          <p:cNvPr id="17" name="Text 12"/>
          <p:cNvSpPr txBox="1"/>
          <p:nvPr/>
        </p:nvSpPr>
        <p:spPr>
          <a:xfrm>
            <a:off x="8508797" y="2971800"/>
            <a:ext cx="2905658" cy="548640"/>
          </a:xfrm>
          <a:prstGeom prst="rect">
            <a:avLst/>
          </a:prstGeom>
          <a:noFill/>
          <a:ln/>
        </p:spPr>
        <p:txBody>
          <a:bodyPr wrap="square" lIns="0" tIns="0" rIns="0" bIns="0" rtlCol="0" anchor="t"/>
          <a:lstStyle/>
          <a:p>
            <a:pPr indent="0" marL="0">
              <a:buNone/>
            </a:pPr>
            <a:r>
              <a:rPr lang="en-US" sz="1400" dirty="0">
                <a:solidFill>
                  <a:schemeClr val="bg2"/>
                </a:solidFill>
              </a:rPr>
              <a:t>Clipboard, trash, drag out, open with the default app</a:t>
            </a:r>
            <a:endParaRPr lang="en-US" sz="1400" dirty="0"/>
          </a:p>
        </p:txBody>
      </p:sp>
      <p:sp>
        <p:nvSpPr>
          <p:cNvPr id="18" name="desk Window zoom"/>
          <p:cNvSpPr/>
          <p:nvPr/>
        </p:nvSpPr>
        <p:spPr>
          <a:xfrm>
            <a:off x="457200" y="3977640"/>
            <a:ext cx="3545738" cy="2240280"/>
          </a:xfrm>
          <a:prstGeom prst="roundRect">
            <a:avLst>
              <a:gd name="adj" fmla="val 4898"/>
            </a:avLst>
          </a:prstGeom>
          <a:solidFill>
            <a:schemeClr val="accent3"/>
          </a:solidFill>
          <a:ln/>
        </p:spPr>
      </p:sp>
      <p:sp>
        <p:nvSpPr>
          <p:cNvPr id="19" name="desk Window zoom circle"/>
          <p:cNvSpPr/>
          <p:nvPr/>
        </p:nvSpPr>
        <p:spPr>
          <a:xfrm>
            <a:off x="777240" y="4297680"/>
            <a:ext cx="640080" cy="640080"/>
          </a:xfrm>
          <a:prstGeom prst="ellipse">
            <a:avLst/>
          </a:prstGeom>
          <a:solidFill>
            <a:schemeClr val="accent1"/>
          </a:solidFill>
          <a:ln/>
        </p:spPr>
      </p:sp>
      <p:pic>
        <p:nvPicPr>
          <p:cNvPr id="20" name="desk Window zoom icon" descr="Window zoom">    </p:cNvPr>
          <p:cNvPicPr>
            <a:picLocks noChangeAspect="1"/>
          </p:cNvPicPr>
          <p:nvPr/>
        </p:nvPicPr>
        <p:blipFill>
          <a:blip r:embed="rId4"/>
          <a:stretch>
            <a:fillRect/>
          </a:stretch>
        </p:blipFill>
        <p:spPr>
          <a:xfrm>
            <a:off x="923544" y="4443984"/>
            <a:ext cx="347472" cy="347472"/>
          </a:xfrm>
          <a:prstGeom prst="rect">
            <a:avLst/>
          </a:prstGeom>
        </p:spPr>
      </p:pic>
      <p:sp>
        <p:nvSpPr>
          <p:cNvPr id="21" name="Text 15"/>
          <p:cNvSpPr txBox="1"/>
          <p:nvPr/>
        </p:nvSpPr>
        <p:spPr>
          <a:xfrm>
            <a:off x="777240" y="512064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Window zoom</a:t>
            </a:r>
            <a:endParaRPr lang="en-US" sz="1900" dirty="0"/>
          </a:p>
        </p:txBody>
      </p:sp>
      <p:sp>
        <p:nvSpPr>
          <p:cNvPr id="22" name="Text 16"/>
          <p:cNvSpPr txBox="1"/>
          <p:nvPr/>
        </p:nvSpPr>
        <p:spPr>
          <a:xfrm>
            <a:off x="777240" y="5532120"/>
            <a:ext cx="2905658" cy="548640"/>
          </a:xfrm>
          <a:prstGeom prst="rect">
            <a:avLst/>
          </a:prstGeom>
          <a:noFill/>
          <a:ln/>
        </p:spPr>
        <p:txBody>
          <a:bodyPr wrap="square" lIns="0" tIns="0" rIns="0" bIns="0" rtlCol="0" anchor="t"/>
          <a:lstStyle/>
          <a:p>
            <a:pPr indent="0" marL="0">
              <a:buNone/>
            </a:pPr>
            <a:r>
              <a:rPr lang="en-US" sz="1400" dirty="0">
                <a:solidFill>
                  <a:schemeClr val="bg2"/>
                </a:solidFill>
              </a:rPr>
              <a:t>Ctrl+= / Ctrl+− / Ctrl+0, and the title bar</a:t>
            </a:r>
            <a:endParaRPr lang="en-US" sz="1400" dirty="0"/>
          </a:p>
        </p:txBody>
      </p:sp>
      <p:sp>
        <p:nvSpPr>
          <p:cNvPr id="23" name="desk Show / hide anywhere"/>
          <p:cNvSpPr/>
          <p:nvPr/>
        </p:nvSpPr>
        <p:spPr>
          <a:xfrm>
            <a:off x="4322978" y="3977640"/>
            <a:ext cx="3545738" cy="2240280"/>
          </a:xfrm>
          <a:prstGeom prst="roundRect">
            <a:avLst>
              <a:gd name="adj" fmla="val 4898"/>
            </a:avLst>
          </a:prstGeom>
          <a:solidFill>
            <a:schemeClr val="accent3"/>
          </a:solidFill>
          <a:ln/>
        </p:spPr>
      </p:sp>
      <p:sp>
        <p:nvSpPr>
          <p:cNvPr id="24" name="desk Show / hide anywhere circle"/>
          <p:cNvSpPr/>
          <p:nvPr/>
        </p:nvSpPr>
        <p:spPr>
          <a:xfrm>
            <a:off x="4643018" y="4297680"/>
            <a:ext cx="640080" cy="640080"/>
          </a:xfrm>
          <a:prstGeom prst="ellipse">
            <a:avLst/>
          </a:prstGeom>
          <a:solidFill>
            <a:schemeClr val="accent1"/>
          </a:solidFill>
          <a:ln/>
        </p:spPr>
      </p:sp>
      <p:pic>
        <p:nvPicPr>
          <p:cNvPr id="25" name="desk Show / hide anywhere icon" descr="Show / hide anywhere">    </p:cNvPr>
          <p:cNvPicPr>
            <a:picLocks noChangeAspect="1"/>
          </p:cNvPicPr>
          <p:nvPr/>
        </p:nvPicPr>
        <p:blipFill>
          <a:blip r:embed="rId5"/>
          <a:stretch>
            <a:fillRect/>
          </a:stretch>
        </p:blipFill>
        <p:spPr>
          <a:xfrm>
            <a:off x="4789322" y="4443984"/>
            <a:ext cx="347472" cy="347472"/>
          </a:xfrm>
          <a:prstGeom prst="rect">
            <a:avLst/>
          </a:prstGeom>
        </p:spPr>
      </p:pic>
      <p:sp>
        <p:nvSpPr>
          <p:cNvPr id="26" name="Text 19"/>
          <p:cNvSpPr txBox="1"/>
          <p:nvPr/>
        </p:nvSpPr>
        <p:spPr>
          <a:xfrm>
            <a:off x="4643018" y="512064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Show / hide anywhere</a:t>
            </a:r>
            <a:endParaRPr lang="en-US" sz="1900" dirty="0"/>
          </a:p>
        </p:txBody>
      </p:sp>
      <p:sp>
        <p:nvSpPr>
          <p:cNvPr id="27" name="Text 20"/>
          <p:cNvSpPr txBox="1"/>
          <p:nvPr/>
        </p:nvSpPr>
        <p:spPr>
          <a:xfrm>
            <a:off x="4643018" y="5532120"/>
            <a:ext cx="2905658" cy="548640"/>
          </a:xfrm>
          <a:prstGeom prst="rect">
            <a:avLst/>
          </a:prstGeom>
          <a:noFill/>
          <a:ln/>
        </p:spPr>
        <p:txBody>
          <a:bodyPr wrap="square" lIns="0" tIns="0" rIns="0" bIns="0" rtlCol="0" anchor="t"/>
          <a:lstStyle/>
          <a:p>
            <a:pPr indent="0" marL="0">
              <a:buNone/>
            </a:pPr>
            <a:r>
              <a:rPr lang="en-US" sz="1400" dirty="0">
                <a:solidFill>
                  <a:schemeClr val="bg2"/>
                </a:solidFill>
              </a:rPr>
              <a:t>Ctrl+` from any application</a:t>
            </a:r>
            <a:endParaRPr lang="en-US" sz="1400" dirty="0"/>
          </a:p>
        </p:txBody>
      </p:sp>
      <p:sp>
        <p:nvSpPr>
          <p:cNvPr id="28" name="desk Updates itself"/>
          <p:cNvSpPr/>
          <p:nvPr/>
        </p:nvSpPr>
        <p:spPr>
          <a:xfrm>
            <a:off x="8188757" y="3977640"/>
            <a:ext cx="3545738" cy="2240280"/>
          </a:xfrm>
          <a:prstGeom prst="roundRect">
            <a:avLst>
              <a:gd name="adj" fmla="val 4898"/>
            </a:avLst>
          </a:prstGeom>
          <a:solidFill>
            <a:schemeClr val="accent3"/>
          </a:solidFill>
          <a:ln/>
        </p:spPr>
      </p:sp>
      <p:sp>
        <p:nvSpPr>
          <p:cNvPr id="29" name="desk Updates itself circle"/>
          <p:cNvSpPr/>
          <p:nvPr/>
        </p:nvSpPr>
        <p:spPr>
          <a:xfrm>
            <a:off x="8508797" y="4297680"/>
            <a:ext cx="640080" cy="640080"/>
          </a:xfrm>
          <a:prstGeom prst="ellipse">
            <a:avLst/>
          </a:prstGeom>
          <a:solidFill>
            <a:schemeClr val="accent1"/>
          </a:solidFill>
          <a:ln/>
        </p:spPr>
      </p:sp>
      <p:pic>
        <p:nvPicPr>
          <p:cNvPr id="30" name="desk Updates itself icon" descr="Updates itself">    </p:cNvPr>
          <p:cNvPicPr>
            <a:picLocks noChangeAspect="1"/>
          </p:cNvPicPr>
          <p:nvPr/>
        </p:nvPicPr>
        <p:blipFill>
          <a:blip r:embed="rId6"/>
          <a:stretch>
            <a:fillRect/>
          </a:stretch>
        </p:blipFill>
        <p:spPr>
          <a:xfrm>
            <a:off x="8655101" y="4443984"/>
            <a:ext cx="347472" cy="347472"/>
          </a:xfrm>
          <a:prstGeom prst="rect">
            <a:avLst/>
          </a:prstGeom>
        </p:spPr>
      </p:pic>
      <p:sp>
        <p:nvSpPr>
          <p:cNvPr id="31" name="Text 23"/>
          <p:cNvSpPr txBox="1"/>
          <p:nvPr/>
        </p:nvSpPr>
        <p:spPr>
          <a:xfrm>
            <a:off x="8508797" y="5120640"/>
            <a:ext cx="2905658" cy="411480"/>
          </a:xfrm>
          <a:prstGeom prst="rect">
            <a:avLst/>
          </a:prstGeom>
          <a:noFill/>
          <a:ln/>
        </p:spPr>
        <p:txBody>
          <a:bodyPr wrap="square" lIns="0" tIns="0" rIns="0" bIns="0" rtlCol="0" anchor="ctr"/>
          <a:lstStyle/>
          <a:p>
            <a:pPr indent="0" marL="0">
              <a:buNone/>
            </a:pPr>
            <a:r>
              <a:rPr lang="en-US" sz="1900" b="1" dirty="0">
                <a:solidFill>
                  <a:schemeClr val="bg1"/>
                </a:solidFill>
              </a:rPr>
              <a:t>Updates itself</a:t>
            </a:r>
            <a:endParaRPr lang="en-US" sz="1900" dirty="0"/>
          </a:p>
        </p:txBody>
      </p:sp>
      <p:sp>
        <p:nvSpPr>
          <p:cNvPr id="32" name="Text 24"/>
          <p:cNvSpPr txBox="1"/>
          <p:nvPr/>
        </p:nvSpPr>
        <p:spPr>
          <a:xfrm>
            <a:off x="8508797" y="5532120"/>
            <a:ext cx="2905658" cy="548640"/>
          </a:xfrm>
          <a:prstGeom prst="rect">
            <a:avLst/>
          </a:prstGeom>
          <a:noFill/>
          <a:ln/>
        </p:spPr>
        <p:txBody>
          <a:bodyPr wrap="square" lIns="0" tIns="0" rIns="0" bIns="0" rtlCol="0" anchor="t"/>
          <a:lstStyle/>
          <a:p>
            <a:pPr indent="0" marL="0">
              <a:buNone/>
            </a:pPr>
            <a:r>
              <a:rPr lang="en-US" sz="1400" dirty="0">
                <a:solidFill>
                  <a:schemeClr val="bg2"/>
                </a:solidFill>
              </a:rPr>
              <a:t>Ctrl+U checks; a blue Upgrade button appears</a:t>
            </a:r>
            <a:endParaRPr lang="en-US" sz="1400" dirty="0"/>
          </a:p>
        </p:txBody>
      </p:sp>
      <p:sp>
        <p:nvSpPr>
          <p:cNvPr id="25" name="Slide Number Placeholder 0"/>
          <p:cNvSpPr>
            <a:spLocks noGrp="1"/>
          </p:cNvSpPr>
          <p:nvPr>
            <p:ph type="sldNum" sz="quarter" idx="4294967295"/>
          </p:nvPr>
        </p:nvSpPr>
        <p:spPr>
          <a:xfrm>
            <a:off x="1118585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0"/>
            <a:ext cx="5303520" cy="1463040"/>
          </a:xfrm>
          <a:prstGeom prst="rect">
            <a:avLst/>
          </a:prstGeom>
          <a:noFill/>
          <a:ln/>
        </p:spPr>
        <p:txBody>
          <a:bodyPr wrap="square" lIns="0" tIns="0" rIns="0" bIns="0" rtlCol="0" anchor="b"/>
          <a:lstStyle/>
          <a:p>
            <a:pPr algn="l" indent="0" marL="0">
              <a:buNone/>
            </a:pPr>
            <a:r>
              <a:rPr lang="en-US" sz="4400" b="1" dirty="0">
                <a:solidFill>
                  <a:schemeClr val="bg1"/>
                </a:solidFill>
              </a:rPr>
              <a:t>Six keys to remember</a:t>
            </a:r>
            <a:endParaRPr lang="en-US" sz="4400" dirty="0"/>
          </a:p>
        </p:txBody>
      </p:sp>
      <p:sp>
        <p:nvSpPr>
          <p:cNvPr id="3" name="Text 0"/>
          <p:cNvSpPr/>
          <p:nvPr>
            <p:ph idx="101" type="body" hasCustomPrompt="1"/>
          </p:nvPr>
        </p:nvSpPr>
        <p:spPr>
          <a:xfrm>
            <a:off x="457200" y="3611880"/>
            <a:ext cx="5120640" cy="1280160"/>
          </a:xfrm>
          <a:prstGeom prst="rect">
            <a:avLst/>
          </a:prstGeom>
          <a:noFill/>
          <a:ln/>
        </p:spPr>
        <p:txBody>
          <a:bodyPr wrap="square" lIns="0" tIns="0" rIns="0" bIns="0" rtlCol="0" anchor="t"/>
          <a:lstStyle/>
          <a:p>
            <a:pPr algn="l" indent="0" marL="0">
              <a:buNone/>
            </a:pPr>
            <a:r>
              <a:rPr lang="en-US" sz="1800" dirty="0">
                <a:solidFill>
                  <a:schemeClr val="bg2"/>
                </a:solidFill>
              </a:rPr>
              <a:t>Everything else is in F1 — and can be rebound.</a:t>
            </a:r>
            <a:endParaRPr lang="en-US" sz="1800" dirty="0"/>
          </a:p>
        </p:txBody>
      </p:sp>
      <p:sp>
        <p:nvSpPr>
          <p:cNvPr id="4" name="key F1"/>
          <p:cNvSpPr/>
          <p:nvPr/>
        </p:nvSpPr>
        <p:spPr>
          <a:xfrm>
            <a:off x="6400800" y="1188720"/>
            <a:ext cx="2514600" cy="731520"/>
          </a:xfrm>
          <a:prstGeom prst="roundRect">
            <a:avLst>
              <a:gd name="adj" fmla="val 10000"/>
            </a:avLst>
          </a:prstGeom>
          <a:solidFill>
            <a:schemeClr val="accent3"/>
          </a:solidFill>
          <a:ln w="15875">
            <a:solidFill>
              <a:schemeClr val="accent4"/>
            </a:solidFill>
            <a:prstDash val="solid"/>
          </a:ln>
        </p:spPr>
      </p:sp>
      <p:sp>
        <p:nvSpPr>
          <p:cNvPr id="5" name="key F1 label"/>
          <p:cNvSpPr txBox="1"/>
          <p:nvPr/>
        </p:nvSpPr>
        <p:spPr>
          <a:xfrm>
            <a:off x="6400800" y="118872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F1</a:t>
            </a:r>
            <a:endParaRPr lang="en-US" sz="2200" dirty="0"/>
          </a:p>
        </p:txBody>
      </p:sp>
      <p:sp>
        <p:nvSpPr>
          <p:cNvPr id="6" name="Text 4"/>
          <p:cNvSpPr txBox="1"/>
          <p:nvPr/>
        </p:nvSpPr>
        <p:spPr>
          <a:xfrm>
            <a:off x="6400800" y="199339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Help — every key</a:t>
            </a:r>
            <a:endParaRPr lang="en-US" sz="1500" dirty="0"/>
          </a:p>
        </p:txBody>
      </p:sp>
      <p:sp>
        <p:nvSpPr>
          <p:cNvPr id="7" name="key Ctrl+Shift+P"/>
          <p:cNvSpPr/>
          <p:nvPr/>
        </p:nvSpPr>
        <p:spPr>
          <a:xfrm>
            <a:off x="9235440" y="1188720"/>
            <a:ext cx="2514600" cy="731520"/>
          </a:xfrm>
          <a:prstGeom prst="roundRect">
            <a:avLst>
              <a:gd name="adj" fmla="val 10000"/>
            </a:avLst>
          </a:prstGeom>
          <a:solidFill>
            <a:schemeClr val="accent3"/>
          </a:solidFill>
          <a:ln w="15875">
            <a:solidFill>
              <a:schemeClr val="accent4"/>
            </a:solidFill>
            <a:prstDash val="solid"/>
          </a:ln>
        </p:spPr>
      </p:sp>
      <p:sp>
        <p:nvSpPr>
          <p:cNvPr id="8" name="key Ctrl+Shift+P label"/>
          <p:cNvSpPr txBox="1"/>
          <p:nvPr/>
        </p:nvSpPr>
        <p:spPr>
          <a:xfrm>
            <a:off x="9235440" y="118872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Ctrl+Shift+P</a:t>
            </a:r>
            <a:endParaRPr lang="en-US" sz="2200" dirty="0"/>
          </a:p>
        </p:txBody>
      </p:sp>
      <p:sp>
        <p:nvSpPr>
          <p:cNvPr id="9" name="Text 7"/>
          <p:cNvSpPr txBox="1"/>
          <p:nvPr/>
        </p:nvSpPr>
        <p:spPr>
          <a:xfrm>
            <a:off x="9235440" y="199339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Command palette</a:t>
            </a:r>
            <a:endParaRPr lang="en-US" sz="1500" dirty="0"/>
          </a:p>
        </p:txBody>
      </p:sp>
      <p:sp>
        <p:nvSpPr>
          <p:cNvPr id="10" name="key Tab"/>
          <p:cNvSpPr/>
          <p:nvPr/>
        </p:nvSpPr>
        <p:spPr>
          <a:xfrm>
            <a:off x="6400800" y="2651760"/>
            <a:ext cx="2514600" cy="731520"/>
          </a:xfrm>
          <a:prstGeom prst="roundRect">
            <a:avLst>
              <a:gd name="adj" fmla="val 10000"/>
            </a:avLst>
          </a:prstGeom>
          <a:solidFill>
            <a:schemeClr val="accent3"/>
          </a:solidFill>
          <a:ln w="15875">
            <a:solidFill>
              <a:schemeClr val="accent4"/>
            </a:solidFill>
            <a:prstDash val="solid"/>
          </a:ln>
        </p:spPr>
      </p:sp>
      <p:sp>
        <p:nvSpPr>
          <p:cNvPr id="11" name="key Tab label"/>
          <p:cNvSpPr txBox="1"/>
          <p:nvPr/>
        </p:nvSpPr>
        <p:spPr>
          <a:xfrm>
            <a:off x="6400800" y="265176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Tab</a:t>
            </a:r>
            <a:endParaRPr lang="en-US" sz="2200" dirty="0"/>
          </a:p>
        </p:txBody>
      </p:sp>
      <p:sp>
        <p:nvSpPr>
          <p:cNvPr id="12" name="Text 10"/>
          <p:cNvSpPr txBox="1"/>
          <p:nvPr/>
        </p:nvSpPr>
        <p:spPr>
          <a:xfrm>
            <a:off x="6400800" y="345643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Other panel</a:t>
            </a:r>
            <a:endParaRPr lang="en-US" sz="1500" dirty="0"/>
          </a:p>
        </p:txBody>
      </p:sp>
      <p:sp>
        <p:nvSpPr>
          <p:cNvPr id="13" name="key F5 / F6"/>
          <p:cNvSpPr/>
          <p:nvPr/>
        </p:nvSpPr>
        <p:spPr>
          <a:xfrm>
            <a:off x="9235440" y="2651760"/>
            <a:ext cx="2514600" cy="731520"/>
          </a:xfrm>
          <a:prstGeom prst="roundRect">
            <a:avLst>
              <a:gd name="adj" fmla="val 10000"/>
            </a:avLst>
          </a:prstGeom>
          <a:solidFill>
            <a:schemeClr val="accent3"/>
          </a:solidFill>
          <a:ln w="15875">
            <a:solidFill>
              <a:schemeClr val="accent4"/>
            </a:solidFill>
            <a:prstDash val="solid"/>
          </a:ln>
        </p:spPr>
      </p:sp>
      <p:sp>
        <p:nvSpPr>
          <p:cNvPr id="14" name="key F5 / F6 label"/>
          <p:cNvSpPr txBox="1"/>
          <p:nvPr/>
        </p:nvSpPr>
        <p:spPr>
          <a:xfrm>
            <a:off x="9235440" y="265176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F5 / F6</a:t>
            </a:r>
            <a:endParaRPr lang="en-US" sz="2200" dirty="0"/>
          </a:p>
        </p:txBody>
      </p:sp>
      <p:sp>
        <p:nvSpPr>
          <p:cNvPr id="15" name="Text 13"/>
          <p:cNvSpPr txBox="1"/>
          <p:nvPr/>
        </p:nvSpPr>
        <p:spPr>
          <a:xfrm>
            <a:off x="9235440" y="345643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Copy / move there</a:t>
            </a:r>
            <a:endParaRPr lang="en-US" sz="1500" dirty="0"/>
          </a:p>
        </p:txBody>
      </p:sp>
      <p:sp>
        <p:nvSpPr>
          <p:cNvPr id="16" name="key F4"/>
          <p:cNvSpPr/>
          <p:nvPr/>
        </p:nvSpPr>
        <p:spPr>
          <a:xfrm>
            <a:off x="6400800" y="4114800"/>
            <a:ext cx="2514600" cy="731520"/>
          </a:xfrm>
          <a:prstGeom prst="roundRect">
            <a:avLst>
              <a:gd name="adj" fmla="val 10000"/>
            </a:avLst>
          </a:prstGeom>
          <a:solidFill>
            <a:schemeClr val="accent3"/>
          </a:solidFill>
          <a:ln w="15875">
            <a:solidFill>
              <a:schemeClr val="accent4"/>
            </a:solidFill>
            <a:prstDash val="solid"/>
          </a:ln>
        </p:spPr>
      </p:sp>
      <p:sp>
        <p:nvSpPr>
          <p:cNvPr id="17" name="key F4 label"/>
          <p:cNvSpPr txBox="1"/>
          <p:nvPr/>
        </p:nvSpPr>
        <p:spPr>
          <a:xfrm>
            <a:off x="6400800" y="411480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F4</a:t>
            </a:r>
            <a:endParaRPr lang="en-US" sz="2200" dirty="0"/>
          </a:p>
        </p:txBody>
      </p:sp>
      <p:sp>
        <p:nvSpPr>
          <p:cNvPr id="18" name="Text 16"/>
          <p:cNvSpPr txBox="1"/>
          <p:nvPr/>
        </p:nvSpPr>
        <p:spPr>
          <a:xfrm>
            <a:off x="6400800" y="491947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Edit the file</a:t>
            </a:r>
            <a:endParaRPr lang="en-US" sz="1500" dirty="0"/>
          </a:p>
        </p:txBody>
      </p:sp>
      <p:sp>
        <p:nvSpPr>
          <p:cNvPr id="19" name="key Ctrl+L"/>
          <p:cNvSpPr/>
          <p:nvPr/>
        </p:nvSpPr>
        <p:spPr>
          <a:xfrm>
            <a:off x="9235440" y="4114800"/>
            <a:ext cx="2514600" cy="731520"/>
          </a:xfrm>
          <a:prstGeom prst="roundRect">
            <a:avLst>
              <a:gd name="adj" fmla="val 10000"/>
            </a:avLst>
          </a:prstGeom>
          <a:solidFill>
            <a:schemeClr val="accent3"/>
          </a:solidFill>
          <a:ln w="15875">
            <a:solidFill>
              <a:schemeClr val="accent4"/>
            </a:solidFill>
            <a:prstDash val="solid"/>
          </a:ln>
        </p:spPr>
      </p:sp>
      <p:sp>
        <p:nvSpPr>
          <p:cNvPr id="20" name="key Ctrl+L label"/>
          <p:cNvSpPr txBox="1"/>
          <p:nvPr/>
        </p:nvSpPr>
        <p:spPr>
          <a:xfrm>
            <a:off x="9235440" y="4114800"/>
            <a:ext cx="2514600" cy="731520"/>
          </a:xfrm>
          <a:prstGeom prst="rect">
            <a:avLst/>
          </a:prstGeom>
          <a:noFill/>
          <a:ln/>
        </p:spPr>
        <p:txBody>
          <a:bodyPr wrap="square" lIns="0" tIns="0" rIns="0" bIns="0" rtlCol="0" anchor="ctr"/>
          <a:lstStyle/>
          <a:p>
            <a:pPr algn="ctr" indent="0" marL="0">
              <a:buNone/>
            </a:pPr>
            <a:r>
              <a:rPr lang="en-US" sz="2200" b="1" dirty="0">
                <a:solidFill>
                  <a:schemeClr val="bg1"/>
                </a:solidFill>
              </a:rPr>
              <a:t>Ctrl+L</a:t>
            </a:r>
            <a:endParaRPr lang="en-US" sz="2200" dirty="0"/>
          </a:p>
        </p:txBody>
      </p:sp>
      <p:sp>
        <p:nvSpPr>
          <p:cNvPr id="21" name="Text 19"/>
          <p:cNvSpPr txBox="1"/>
          <p:nvPr/>
        </p:nvSpPr>
        <p:spPr>
          <a:xfrm>
            <a:off x="9235440" y="4919472"/>
            <a:ext cx="2514600" cy="365760"/>
          </a:xfrm>
          <a:prstGeom prst="rect">
            <a:avLst/>
          </a:prstGeom>
          <a:noFill/>
          <a:ln/>
        </p:spPr>
        <p:txBody>
          <a:bodyPr wrap="square" lIns="0" tIns="0" rIns="0" bIns="0" rtlCol="0" anchor="ctr"/>
          <a:lstStyle/>
          <a:p>
            <a:pPr algn="ctr" indent="0" marL="0">
              <a:buNone/>
            </a:pPr>
            <a:r>
              <a:rPr lang="en-US" sz="1500" dirty="0">
                <a:solidFill>
                  <a:schemeClr val="bg2"/>
                </a:solidFill>
              </a:rPr>
              <a:t>Type a path</a:t>
            </a:r>
            <a:endParaRPr lang="en-US" sz="1500" dirty="0"/>
          </a:p>
        </p:txBody>
      </p:sp>
    </p:spTree>
  </p:cSld>
  <p:clrMapOvr>
    <a:masterClrMapping/>
  </p:clrMapOvr>
</p:sld>
</file>

<file path=ppt/theme/theme1.xml><?xml version="1.0" encoding="utf-8"?>
<a:theme xmlns:a="http://schemas.openxmlformats.org/drawingml/2006/main" name="tr-file">
  <a:themeElements>
    <a:clrScheme name="tr-file">
      <a:dk1>
        <a:srgbClr val="1E1E1E"/>
      </a:dk1>
      <a:lt1>
        <a:srgbClr val="FFFFFF"/>
      </a:lt1>
      <a:dk2>
        <a:srgbClr val="17171A"/>
      </a:dk2>
      <a:lt2>
        <a:srgbClr val="B9B9C3"/>
      </a:lt2>
      <a:accent1>
        <a:srgbClr val="FFB224"/>
      </a:accent1>
      <a:accent2>
        <a:srgbClr val="3794FF"/>
      </a:accent2>
      <a:accent3>
        <a:srgbClr val="26262C"/>
      </a:accent3>
      <a:accent4>
        <a:srgbClr val="3A3A43"/>
      </a:accent4>
      <a:accent5>
        <a:srgbClr val="4EC9B0"/>
      </a:accent5>
      <a:accent6>
        <a:srgbClr val="F48771"/>
      </a:accent6>
      <a:hlink>
        <a:srgbClr val="3794FF"/>
      </a:hlink>
      <a:folHlink>
        <a:srgbClr val="C586C0"/>
      </a:folHlink>
    </a:clrScheme>
    <a:fontScheme name="tr-fil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tr-file — a quick tour</dc:title>
  <dc:subject>PptxGenJS Presentation</dc:subject>
  <dc:creator>tr-file</dc:creator>
  <cp:lastModifiedBy>tr-file</cp:lastModifiedBy>
  <cp:revision>1</cp:revision>
  <dcterms:created xsi:type="dcterms:W3CDTF">2026-10-09T12:13:19Z</dcterms:created>
  <dcterms:modified xsi:type="dcterms:W3CDTF">2026-10-09T12:13:19Z</dcterms:modified>
</cp:coreProperties>
</file>